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webextensions/webextension1.xml" ContentType="application/vnd.ms-office.webextension+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5" r:id="rId8"/>
    <p:sldId id="262" r:id="rId9"/>
    <p:sldId id="263" r:id="rId10"/>
    <p:sldId id="264" r:id="rId11"/>
    <p:sldId id="266" r:id="rId12"/>
    <p:sldId id="267" r:id="rId13"/>
    <p:sldId id="268" r:id="rId14"/>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2" d="100"/>
          <a:sy n="72" d="100"/>
        </p:scale>
        <p:origin x="-2314" y="-58"/>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84E3C0-3615-4508-893B-5801CDA41B60}" type="datetimeFigureOut">
              <a:rPr lang="en-IN" smtClean="0"/>
              <a:t>12-11-2021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3B2034-7A86-425F-98BC-BEE6825156FA}" type="slidenum">
              <a:rPr lang="en-IN" smtClean="0"/>
              <a:t>‹#›</a:t>
            </a:fld>
            <a:endParaRPr lang="en-IN"/>
          </a:p>
        </p:txBody>
      </p:sp>
    </p:spTree>
    <p:extLst>
      <p:ext uri="{BB962C8B-B14F-4D97-AF65-F5344CB8AC3E}">
        <p14:creationId xmlns:p14="http://schemas.microsoft.com/office/powerpoint/2010/main" val="1214842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84E3C0-3615-4508-893B-5801CDA41B60}" type="datetimeFigureOut">
              <a:rPr lang="en-IN" smtClean="0"/>
              <a:t>12-11-2021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3B2034-7A86-425F-98BC-BEE6825156FA}" type="slidenum">
              <a:rPr lang="en-IN" smtClean="0"/>
              <a:t>‹#›</a:t>
            </a:fld>
            <a:endParaRPr lang="en-IN"/>
          </a:p>
        </p:txBody>
      </p:sp>
    </p:spTree>
    <p:extLst>
      <p:ext uri="{BB962C8B-B14F-4D97-AF65-F5344CB8AC3E}">
        <p14:creationId xmlns:p14="http://schemas.microsoft.com/office/powerpoint/2010/main" val="3578322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84E3C0-3615-4508-893B-5801CDA41B60}" type="datetimeFigureOut">
              <a:rPr lang="en-IN" smtClean="0"/>
              <a:t>12-11-2021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3B2034-7A86-425F-98BC-BEE6825156FA}" type="slidenum">
              <a:rPr lang="en-IN" smtClean="0"/>
              <a:t>‹#›</a:t>
            </a:fld>
            <a:endParaRPr lang="en-IN"/>
          </a:p>
        </p:txBody>
      </p:sp>
    </p:spTree>
    <p:extLst>
      <p:ext uri="{BB962C8B-B14F-4D97-AF65-F5344CB8AC3E}">
        <p14:creationId xmlns:p14="http://schemas.microsoft.com/office/powerpoint/2010/main" val="270333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84E3C0-3615-4508-893B-5801CDA41B60}" type="datetimeFigureOut">
              <a:rPr lang="en-IN" smtClean="0"/>
              <a:t>12-11-2021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3B2034-7A86-425F-98BC-BEE6825156FA}" type="slidenum">
              <a:rPr lang="en-IN" smtClean="0"/>
              <a:t>‹#›</a:t>
            </a:fld>
            <a:endParaRPr lang="en-IN"/>
          </a:p>
        </p:txBody>
      </p:sp>
    </p:spTree>
    <p:extLst>
      <p:ext uri="{BB962C8B-B14F-4D97-AF65-F5344CB8AC3E}">
        <p14:creationId xmlns:p14="http://schemas.microsoft.com/office/powerpoint/2010/main" val="4275792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84E3C0-3615-4508-893B-5801CDA41B60}" type="datetimeFigureOut">
              <a:rPr lang="en-IN" smtClean="0"/>
              <a:t>12-11-2021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3B2034-7A86-425F-98BC-BEE6825156FA}" type="slidenum">
              <a:rPr lang="en-IN" smtClean="0"/>
              <a:t>‹#›</a:t>
            </a:fld>
            <a:endParaRPr lang="en-IN"/>
          </a:p>
        </p:txBody>
      </p:sp>
    </p:spTree>
    <p:extLst>
      <p:ext uri="{BB962C8B-B14F-4D97-AF65-F5344CB8AC3E}">
        <p14:creationId xmlns:p14="http://schemas.microsoft.com/office/powerpoint/2010/main" val="64343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84E3C0-3615-4508-893B-5801CDA41B60}" type="datetimeFigureOut">
              <a:rPr lang="en-IN" smtClean="0"/>
              <a:t>12-11-2021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3B2034-7A86-425F-98BC-BEE6825156FA}" type="slidenum">
              <a:rPr lang="en-IN" smtClean="0"/>
              <a:t>‹#›</a:t>
            </a:fld>
            <a:endParaRPr lang="en-IN"/>
          </a:p>
        </p:txBody>
      </p:sp>
    </p:spTree>
    <p:extLst>
      <p:ext uri="{BB962C8B-B14F-4D97-AF65-F5344CB8AC3E}">
        <p14:creationId xmlns:p14="http://schemas.microsoft.com/office/powerpoint/2010/main" val="669259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84E3C0-3615-4508-893B-5801CDA41B60}" type="datetimeFigureOut">
              <a:rPr lang="en-IN" smtClean="0"/>
              <a:t>12-11-2021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83B2034-7A86-425F-98BC-BEE6825156FA}" type="slidenum">
              <a:rPr lang="en-IN" smtClean="0"/>
              <a:t>‹#›</a:t>
            </a:fld>
            <a:endParaRPr lang="en-IN"/>
          </a:p>
        </p:txBody>
      </p:sp>
    </p:spTree>
    <p:extLst>
      <p:ext uri="{BB962C8B-B14F-4D97-AF65-F5344CB8AC3E}">
        <p14:creationId xmlns:p14="http://schemas.microsoft.com/office/powerpoint/2010/main" val="3109542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D84E3C0-3615-4508-893B-5801CDA41B60}" type="datetimeFigureOut">
              <a:rPr lang="en-IN" smtClean="0"/>
              <a:t>12-11-2021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3B2034-7A86-425F-98BC-BEE6825156FA}" type="slidenum">
              <a:rPr lang="en-IN" smtClean="0"/>
              <a:t>‹#›</a:t>
            </a:fld>
            <a:endParaRPr lang="en-IN"/>
          </a:p>
        </p:txBody>
      </p:sp>
    </p:spTree>
    <p:extLst>
      <p:ext uri="{BB962C8B-B14F-4D97-AF65-F5344CB8AC3E}">
        <p14:creationId xmlns:p14="http://schemas.microsoft.com/office/powerpoint/2010/main" val="1690808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D84E3C0-3615-4508-893B-5801CDA41B60}" type="datetimeFigureOut">
              <a:rPr lang="en-IN" smtClean="0"/>
              <a:t>12-11-2021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3B2034-7A86-425F-98BC-BEE6825156FA}" type="slidenum">
              <a:rPr lang="en-IN" smtClean="0"/>
              <a:t>‹#›</a:t>
            </a:fld>
            <a:endParaRPr lang="en-IN"/>
          </a:p>
        </p:txBody>
      </p:sp>
    </p:spTree>
    <p:extLst>
      <p:ext uri="{BB962C8B-B14F-4D97-AF65-F5344CB8AC3E}">
        <p14:creationId xmlns:p14="http://schemas.microsoft.com/office/powerpoint/2010/main" val="2960172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84E3C0-3615-4508-893B-5801CDA41B60}" type="datetimeFigureOut">
              <a:rPr lang="en-IN" smtClean="0"/>
              <a:t>12-11-2021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3B2034-7A86-425F-98BC-BEE6825156FA}" type="slidenum">
              <a:rPr lang="en-IN" smtClean="0"/>
              <a:t>‹#›</a:t>
            </a:fld>
            <a:endParaRPr lang="en-IN"/>
          </a:p>
        </p:txBody>
      </p:sp>
    </p:spTree>
    <p:extLst>
      <p:ext uri="{BB962C8B-B14F-4D97-AF65-F5344CB8AC3E}">
        <p14:creationId xmlns:p14="http://schemas.microsoft.com/office/powerpoint/2010/main" val="2105269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84E3C0-3615-4508-893B-5801CDA41B60}" type="datetimeFigureOut">
              <a:rPr lang="en-IN" smtClean="0"/>
              <a:t>12-11-2021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3B2034-7A86-425F-98BC-BEE6825156FA}" type="slidenum">
              <a:rPr lang="en-IN" smtClean="0"/>
              <a:t>‹#›</a:t>
            </a:fld>
            <a:endParaRPr lang="en-IN"/>
          </a:p>
        </p:txBody>
      </p:sp>
    </p:spTree>
    <p:extLst>
      <p:ext uri="{BB962C8B-B14F-4D97-AF65-F5344CB8AC3E}">
        <p14:creationId xmlns:p14="http://schemas.microsoft.com/office/powerpoint/2010/main" val="1162806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75000"/>
                  </a:schemeClr>
                </a:solidFill>
              </a:defRPr>
            </a:lvl1pPr>
          </a:lstStyle>
          <a:p>
            <a:fld id="{BD84E3C0-3615-4508-893B-5801CDA41B60}" type="datetimeFigureOut">
              <a:rPr lang="en-IN" smtClean="0"/>
              <a:t>12-11-2021</a:t>
            </a:fld>
            <a:endParaRPr lang="en-IN"/>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75000"/>
                  </a:schemeClr>
                </a:solidFill>
              </a:defRPr>
            </a:lvl1pPr>
          </a:lstStyle>
          <a:p>
            <a:fld id="{283B2034-7A86-425F-98BC-BEE6825156FA}" type="slidenum">
              <a:rPr lang="en-IN" smtClean="0"/>
              <a:t>‹#›</a:t>
            </a:fld>
            <a:endParaRPr lang="en-IN"/>
          </a:p>
        </p:txBody>
      </p:sp>
    </p:spTree>
    <p:extLst>
      <p:ext uri="{BB962C8B-B14F-4D97-AF65-F5344CB8AC3E}">
        <p14:creationId xmlns:p14="http://schemas.microsoft.com/office/powerpoint/2010/main" val="132265314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www.gcetj.edu.in/" TargetMode="External"/><Relationship Id="rId13" Type="http://schemas.openxmlformats.org/officeDocument/2006/relationships/image" Target="../media/image10.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hyperlink" Target="https://goo.gl/maps/MYRknC461ofaCYiB6" TargetMode="External"/><Relationship Id="rId5" Type="http://schemas.openxmlformats.org/officeDocument/2006/relationships/image" Target="../media/image4.svg"/><Relationship Id="rId10" Type="http://schemas.openxmlformats.org/officeDocument/2006/relationships/image" Target="../media/image8.svg"/><Relationship Id="rId4" Type="http://schemas.openxmlformats.org/officeDocument/2006/relationships/image" Target="../media/image3.png"/><Relationship Id="rId9" Type="http://schemas.openxmlformats.org/officeDocument/2006/relationships/image" Target="../media/image5.png"/><Relationship Id="rId14" Type="http://schemas.openxmlformats.org/officeDocument/2006/relationships/hyperlink" Target="https://goo.gl/maps/QGQ6wd8M6HFdu4a79"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7.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25.svg"/><Relationship Id="rId4" Type="http://schemas.openxmlformats.org/officeDocument/2006/relationships/image" Target="../media/image19.png"/><Relationship Id="rId9" Type="http://schemas.openxmlformats.org/officeDocument/2006/relationships/image" Target="../media/image29.sv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41.svg"/><Relationship Id="rId3" Type="http://schemas.openxmlformats.org/officeDocument/2006/relationships/image" Target="../media/image31.svg"/><Relationship Id="rId7" Type="http://schemas.openxmlformats.org/officeDocument/2006/relationships/image" Target="../media/image35.svg"/><Relationship Id="rId12"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39.svg"/><Relationship Id="rId5" Type="http://schemas.openxmlformats.org/officeDocument/2006/relationships/image" Target="../media/image33.svg"/><Relationship Id="rId10" Type="http://schemas.openxmlformats.org/officeDocument/2006/relationships/image" Target="../media/image26.png"/><Relationship Id="rId4" Type="http://schemas.openxmlformats.org/officeDocument/2006/relationships/image" Target="../media/image23.png"/><Relationship Id="rId9" Type="http://schemas.openxmlformats.org/officeDocument/2006/relationships/image" Target="../media/image37.sv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33.svg"/><Relationship Id="rId7" Type="http://schemas.openxmlformats.org/officeDocument/2006/relationships/image" Target="../media/image43.sv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31.svg"/><Relationship Id="rId4" Type="http://schemas.openxmlformats.org/officeDocument/2006/relationships/image" Target="../media/image22.png"/><Relationship Id="rId9" Type="http://schemas.openxmlformats.org/officeDocument/2006/relationships/image" Target="../media/image45.sv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slideLayout" Target="../slideLayouts/slideLayout7.xml"/><Relationship Id="rId6" Type="http://schemas.openxmlformats.org/officeDocument/2006/relationships/image" Target="../media/image34.jpeg"/><Relationship Id="rId11" Type="http://schemas.openxmlformats.org/officeDocument/2006/relationships/hyperlink" Target="https://aml.ece.iisc.ac.in/index.php/Kaushik's_PhD_Tapeouts" TargetMode="External"/><Relationship Id="rId5" Type="http://schemas.openxmlformats.org/officeDocument/2006/relationships/image" Target="../media/image33.jpeg"/><Relationship Id="rId10" Type="http://schemas.openxmlformats.org/officeDocument/2006/relationships/image" Target="../media/image37.jpeg"/><Relationship Id="rId4" Type="http://schemas.openxmlformats.org/officeDocument/2006/relationships/image" Target="../media/image32.jpeg"/><Relationship Id="rId9" Type="http://schemas.openxmlformats.org/officeDocument/2006/relationships/hyperlink" Target="http://fab.academany.org/2018/labs/fablabtrivandrum/students/aby-michael/Week7/Week7.html"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65.svg"/><Relationship Id="rId3" Type="http://schemas.openxmlformats.org/officeDocument/2006/relationships/image" Target="../media/image55.svg"/><Relationship Id="rId7" Type="http://schemas.openxmlformats.org/officeDocument/2006/relationships/image" Target="../media/image59.svg"/><Relationship Id="rId12"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63.svg"/><Relationship Id="rId5" Type="http://schemas.openxmlformats.org/officeDocument/2006/relationships/image" Target="../media/image57.svg"/><Relationship Id="rId10" Type="http://schemas.openxmlformats.org/officeDocument/2006/relationships/image" Target="../media/image42.png"/><Relationship Id="rId4" Type="http://schemas.openxmlformats.org/officeDocument/2006/relationships/image" Target="../media/image39.png"/><Relationship Id="rId9" Type="http://schemas.openxmlformats.org/officeDocument/2006/relationships/image" Target="../media/image6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4.png"/><Relationship Id="rId2" Type="http://schemas.microsoft.com/office/2011/relationships/webextension" Target="../webextensions/webextension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8.svg"/><Relationship Id="rId7" Type="http://schemas.openxmlformats.org/officeDocument/2006/relationships/image" Target="../media/image72.sv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70.sv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lowchart: Process 43">
            <a:extLst>
              <a:ext uri="{FF2B5EF4-FFF2-40B4-BE49-F238E27FC236}">
                <a16:creationId xmlns:a16="http://schemas.microsoft.com/office/drawing/2014/main" xmlns="" id="{BA12EEBA-A9F7-4E31-A531-B5C097B13C79}"/>
              </a:ext>
            </a:extLst>
          </p:cNvPr>
          <p:cNvSpPr/>
          <p:nvPr/>
        </p:nvSpPr>
        <p:spPr>
          <a:xfrm>
            <a:off x="-19202" y="1409700"/>
            <a:ext cx="6877202" cy="7734300"/>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 fmla="*/ 0 w 10028"/>
              <a:gd name="connsiteY0" fmla="*/ 7169 h 10000"/>
              <a:gd name="connsiteX1" fmla="*/ 10028 w 10028"/>
              <a:gd name="connsiteY1" fmla="*/ 0 h 10000"/>
              <a:gd name="connsiteX2" fmla="*/ 10028 w 10028"/>
              <a:gd name="connsiteY2" fmla="*/ 10000 h 10000"/>
              <a:gd name="connsiteX3" fmla="*/ 28 w 10028"/>
              <a:gd name="connsiteY3" fmla="*/ 10000 h 10000"/>
              <a:gd name="connsiteX4" fmla="*/ 0 w 10028"/>
              <a:gd name="connsiteY4" fmla="*/ 7169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8" h="10000">
                <a:moveTo>
                  <a:pt x="0" y="7169"/>
                </a:moveTo>
                <a:lnTo>
                  <a:pt x="10028" y="0"/>
                </a:lnTo>
                <a:lnTo>
                  <a:pt x="10028" y="10000"/>
                </a:lnTo>
                <a:lnTo>
                  <a:pt x="28" y="10000"/>
                </a:lnTo>
                <a:cubicBezTo>
                  <a:pt x="19" y="9056"/>
                  <a:pt x="9" y="8113"/>
                  <a:pt x="0" y="7169"/>
                </a:cubicBezTo>
                <a:close/>
              </a:path>
            </a:pathLst>
          </a:cu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Freeform: Shape 33">
            <a:extLst>
              <a:ext uri="{FF2B5EF4-FFF2-40B4-BE49-F238E27FC236}">
                <a16:creationId xmlns:a16="http://schemas.microsoft.com/office/drawing/2014/main" xmlns="" id="{D6F618A2-087E-482C-AD7A-7758687D8B92}"/>
              </a:ext>
            </a:extLst>
          </p:cNvPr>
          <p:cNvSpPr/>
          <p:nvPr/>
        </p:nvSpPr>
        <p:spPr>
          <a:xfrm rot="18956935">
            <a:off x="1536846" y="-224917"/>
            <a:ext cx="6637497" cy="5830388"/>
          </a:xfrm>
          <a:custGeom>
            <a:avLst/>
            <a:gdLst>
              <a:gd name="connsiteX0" fmla="*/ 3932317 w 6259594"/>
              <a:gd name="connsiteY0" fmla="*/ 1 h 5504611"/>
              <a:gd name="connsiteX1" fmla="*/ 6259594 w 6259594"/>
              <a:gd name="connsiteY1" fmla="*/ 2251440 h 5504611"/>
              <a:gd name="connsiteX2" fmla="*/ 3112434 w 6259594"/>
              <a:gd name="connsiteY2" fmla="*/ 5504611 h 5504611"/>
              <a:gd name="connsiteX3" fmla="*/ 2636425 w 6259594"/>
              <a:gd name="connsiteY3" fmla="*/ 5504611 h 5504611"/>
              <a:gd name="connsiteX4" fmla="*/ 2217325 w 6259594"/>
              <a:gd name="connsiteY4" fmla="*/ 5085511 h 5504611"/>
              <a:gd name="connsiteX5" fmla="*/ 2340077 w 6259594"/>
              <a:gd name="connsiteY5" fmla="*/ 4789163 h 5504611"/>
              <a:gd name="connsiteX6" fmla="*/ 2395769 w 6259594"/>
              <a:gd name="connsiteY6" fmla="*/ 4743212 h 5504611"/>
              <a:gd name="connsiteX7" fmla="*/ 1969255 w 6259594"/>
              <a:gd name="connsiteY7" fmla="*/ 4743212 h 5504611"/>
              <a:gd name="connsiteX8" fmla="*/ 1550155 w 6259594"/>
              <a:gd name="connsiteY8" fmla="*/ 4324112 h 5504611"/>
              <a:gd name="connsiteX9" fmla="*/ 1672907 w 6259594"/>
              <a:gd name="connsiteY9" fmla="*/ 4027763 h 5504611"/>
              <a:gd name="connsiteX10" fmla="*/ 1714566 w 6259594"/>
              <a:gd name="connsiteY10" fmla="*/ 3993391 h 5504611"/>
              <a:gd name="connsiteX11" fmla="*/ 1194177 w 6259594"/>
              <a:gd name="connsiteY11" fmla="*/ 3993391 h 5504611"/>
              <a:gd name="connsiteX12" fmla="*/ 775077 w 6259594"/>
              <a:gd name="connsiteY12" fmla="*/ 3574291 h 5504611"/>
              <a:gd name="connsiteX13" fmla="*/ 897829 w 6259594"/>
              <a:gd name="connsiteY13" fmla="*/ 3277943 h 5504611"/>
              <a:gd name="connsiteX14" fmla="*/ 939488 w 6259594"/>
              <a:gd name="connsiteY14" fmla="*/ 3243570 h 5504611"/>
              <a:gd name="connsiteX15" fmla="*/ 419100 w 6259594"/>
              <a:gd name="connsiteY15" fmla="*/ 3243570 h 5504611"/>
              <a:gd name="connsiteX16" fmla="*/ 0 w 6259594"/>
              <a:gd name="connsiteY16" fmla="*/ 2824470 h 5504611"/>
              <a:gd name="connsiteX17" fmla="*/ 419100 w 6259594"/>
              <a:gd name="connsiteY17" fmla="*/ 2405370 h 5504611"/>
              <a:gd name="connsiteX18" fmla="*/ 892112 w 6259594"/>
              <a:gd name="connsiteY18" fmla="*/ 2405370 h 5504611"/>
              <a:gd name="connsiteX19" fmla="*/ 853778 w 6259594"/>
              <a:gd name="connsiteY19" fmla="*/ 2384563 h 5504611"/>
              <a:gd name="connsiteX20" fmla="*/ 669001 w 6259594"/>
              <a:gd name="connsiteY20" fmla="*/ 2037039 h 5504611"/>
              <a:gd name="connsiteX21" fmla="*/ 1088101 w 6259594"/>
              <a:gd name="connsiteY21" fmla="*/ 1617939 h 5504611"/>
              <a:gd name="connsiteX22" fmla="*/ 1655501 w 6259594"/>
              <a:gd name="connsiteY22" fmla="*/ 1617940 h 5504611"/>
              <a:gd name="connsiteX23" fmla="*/ 1621449 w 6259594"/>
              <a:gd name="connsiteY23" fmla="*/ 1607368 h 5504611"/>
              <a:gd name="connsiteX24" fmla="*/ 1365482 w 6259594"/>
              <a:gd name="connsiteY24" fmla="*/ 1221204 h 5504611"/>
              <a:gd name="connsiteX25" fmla="*/ 1784582 w 6259594"/>
              <a:gd name="connsiteY25" fmla="*/ 802103 h 5504611"/>
              <a:gd name="connsiteX26" fmla="*/ 2434782 w 6259594"/>
              <a:gd name="connsiteY26" fmla="*/ 802103 h 5504611"/>
              <a:gd name="connsiteX27" fmla="*/ 2369418 w 6259594"/>
              <a:gd name="connsiteY27" fmla="*/ 766625 h 5504611"/>
              <a:gd name="connsiteX28" fmla="*/ 2184640 w 6259594"/>
              <a:gd name="connsiteY28" fmla="*/ 419101 h 5504611"/>
              <a:gd name="connsiteX29" fmla="*/ 2603740 w 6259594"/>
              <a:gd name="connsiteY29" fmla="*/ 1 h 5504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59594" h="5504611">
                <a:moveTo>
                  <a:pt x="3932317" y="1"/>
                </a:moveTo>
                <a:lnTo>
                  <a:pt x="6259594" y="2251440"/>
                </a:lnTo>
                <a:lnTo>
                  <a:pt x="3112434" y="5504611"/>
                </a:lnTo>
                <a:lnTo>
                  <a:pt x="2636425" y="5504611"/>
                </a:lnTo>
                <a:cubicBezTo>
                  <a:pt x="2404962" y="5504611"/>
                  <a:pt x="2217325" y="5316974"/>
                  <a:pt x="2217325" y="5085511"/>
                </a:cubicBezTo>
                <a:cubicBezTo>
                  <a:pt x="2217325" y="4969780"/>
                  <a:pt x="2264234" y="4865004"/>
                  <a:pt x="2340077" y="4789163"/>
                </a:cubicBezTo>
                <a:lnTo>
                  <a:pt x="2395769" y="4743212"/>
                </a:lnTo>
                <a:lnTo>
                  <a:pt x="1969255" y="4743212"/>
                </a:lnTo>
                <a:cubicBezTo>
                  <a:pt x="1737792" y="4743212"/>
                  <a:pt x="1550155" y="4555575"/>
                  <a:pt x="1550155" y="4324112"/>
                </a:cubicBezTo>
                <a:cubicBezTo>
                  <a:pt x="1550155" y="4208380"/>
                  <a:pt x="1597064" y="4103605"/>
                  <a:pt x="1672907" y="4027763"/>
                </a:cubicBezTo>
                <a:lnTo>
                  <a:pt x="1714566" y="3993391"/>
                </a:lnTo>
                <a:lnTo>
                  <a:pt x="1194177" y="3993391"/>
                </a:lnTo>
                <a:cubicBezTo>
                  <a:pt x="962714" y="3993391"/>
                  <a:pt x="775077" y="3805754"/>
                  <a:pt x="775077" y="3574291"/>
                </a:cubicBezTo>
                <a:cubicBezTo>
                  <a:pt x="775077" y="3458560"/>
                  <a:pt x="821987" y="3353785"/>
                  <a:pt x="897829" y="3277943"/>
                </a:cubicBezTo>
                <a:lnTo>
                  <a:pt x="939488" y="3243570"/>
                </a:lnTo>
                <a:lnTo>
                  <a:pt x="419100" y="3243570"/>
                </a:lnTo>
                <a:cubicBezTo>
                  <a:pt x="187637" y="3243570"/>
                  <a:pt x="0" y="3055933"/>
                  <a:pt x="0" y="2824470"/>
                </a:cubicBezTo>
                <a:cubicBezTo>
                  <a:pt x="0" y="2593007"/>
                  <a:pt x="187637" y="2405370"/>
                  <a:pt x="419100" y="2405370"/>
                </a:cubicBezTo>
                <a:lnTo>
                  <a:pt x="892112" y="2405370"/>
                </a:lnTo>
                <a:lnTo>
                  <a:pt x="853778" y="2384563"/>
                </a:lnTo>
                <a:cubicBezTo>
                  <a:pt x="742297" y="2309248"/>
                  <a:pt x="669001" y="2181703"/>
                  <a:pt x="669001" y="2037039"/>
                </a:cubicBezTo>
                <a:cubicBezTo>
                  <a:pt x="669001" y="1805576"/>
                  <a:pt x="856639" y="1617939"/>
                  <a:pt x="1088101" y="1617939"/>
                </a:cubicBezTo>
                <a:lnTo>
                  <a:pt x="1655501" y="1617940"/>
                </a:lnTo>
                <a:lnTo>
                  <a:pt x="1621449" y="1607368"/>
                </a:lnTo>
                <a:cubicBezTo>
                  <a:pt x="1471028" y="1543746"/>
                  <a:pt x="1365482" y="1394800"/>
                  <a:pt x="1365482" y="1221204"/>
                </a:cubicBezTo>
                <a:cubicBezTo>
                  <a:pt x="1365482" y="989740"/>
                  <a:pt x="1553119" y="802104"/>
                  <a:pt x="1784582" y="802103"/>
                </a:cubicBezTo>
                <a:lnTo>
                  <a:pt x="2434782" y="802103"/>
                </a:lnTo>
                <a:lnTo>
                  <a:pt x="2369418" y="766625"/>
                </a:lnTo>
                <a:cubicBezTo>
                  <a:pt x="2257936" y="691309"/>
                  <a:pt x="2184641" y="563765"/>
                  <a:pt x="2184640" y="419101"/>
                </a:cubicBezTo>
                <a:cubicBezTo>
                  <a:pt x="2184640" y="187639"/>
                  <a:pt x="2372277" y="0"/>
                  <a:pt x="2603740" y="1"/>
                </a:cubicBezTo>
                <a:close/>
              </a:path>
            </a:pathLst>
          </a:custGeom>
          <a:blipFill dpi="0" rotWithShape="0">
            <a:blip r:embed="rId2">
              <a:extLst>
                <a:ext uri="{28A0092B-C50C-407E-A947-70E740481C1C}">
                  <a14:useLocalDpi xmlns:a14="http://schemas.microsoft.com/office/drawing/2010/main" val="0"/>
                </a:ext>
              </a:extLst>
            </a:blip>
            <a:srcRect/>
            <a:stretch>
              <a:fillRect l="-6839" t="-28" r="-13738" b="-588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pic>
        <p:nvPicPr>
          <p:cNvPr id="43" name="Picture 42">
            <a:extLst>
              <a:ext uri="{FF2B5EF4-FFF2-40B4-BE49-F238E27FC236}">
                <a16:creationId xmlns:a16="http://schemas.microsoft.com/office/drawing/2014/main" xmlns="" id="{09810419-7241-4C39-BE4D-817E6C3C38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7" y="2271517"/>
            <a:ext cx="1415058" cy="1224569"/>
          </a:xfrm>
          <a:prstGeom prst="rect">
            <a:avLst/>
          </a:prstGeom>
        </p:spPr>
      </p:pic>
      <p:sp>
        <p:nvSpPr>
          <p:cNvPr id="45" name="TextBox 44">
            <a:extLst>
              <a:ext uri="{FF2B5EF4-FFF2-40B4-BE49-F238E27FC236}">
                <a16:creationId xmlns:a16="http://schemas.microsoft.com/office/drawing/2014/main" xmlns="" id="{E56A9B9B-BA7C-4C19-AF0C-78C6BC98011B}"/>
              </a:ext>
            </a:extLst>
          </p:cNvPr>
          <p:cNvSpPr txBox="1"/>
          <p:nvPr/>
        </p:nvSpPr>
        <p:spPr>
          <a:xfrm>
            <a:off x="2032928" y="5411614"/>
            <a:ext cx="4939332" cy="1169551"/>
          </a:xfrm>
          <a:prstGeom prst="rect">
            <a:avLst/>
          </a:prstGeom>
          <a:noFill/>
        </p:spPr>
        <p:txBody>
          <a:bodyPr wrap="square" rtlCol="0">
            <a:spAutoFit/>
          </a:bodyPr>
          <a:lstStyle/>
          <a:p>
            <a:pPr algn="ctr"/>
            <a:r>
              <a:rPr lang="en-IN" sz="2400" b="1" dirty="0">
                <a:solidFill>
                  <a:schemeClr val="bg1">
                    <a:lumMod val="75000"/>
                  </a:schemeClr>
                </a:solidFill>
                <a:latin typeface="Agency FB" pitchFamily="34" charset="0"/>
              </a:rPr>
              <a:t>GOVERNMENT COLLEGE OF ENGINEERING  - </a:t>
            </a:r>
            <a:r>
              <a:rPr lang="en-IN" sz="2400" b="1" dirty="0" smtClean="0">
                <a:solidFill>
                  <a:schemeClr val="bg1">
                    <a:lumMod val="75000"/>
                  </a:schemeClr>
                </a:solidFill>
                <a:latin typeface="Agency FB" pitchFamily="34" charset="0"/>
              </a:rPr>
              <a:t>   THANJAVUR</a:t>
            </a:r>
            <a:endParaRPr lang="en-IN" sz="2400" b="1" dirty="0">
              <a:solidFill>
                <a:schemeClr val="bg1">
                  <a:lumMod val="75000"/>
                </a:schemeClr>
              </a:solidFill>
              <a:latin typeface="Agency FB" pitchFamily="34" charset="0"/>
            </a:endParaRPr>
          </a:p>
          <a:p>
            <a:endParaRPr lang="en-IN" sz="2200" dirty="0">
              <a:solidFill>
                <a:schemeClr val="bg1">
                  <a:lumMod val="75000"/>
                </a:schemeClr>
              </a:solidFill>
              <a:latin typeface="Abadi"/>
            </a:endParaRPr>
          </a:p>
        </p:txBody>
      </p:sp>
      <p:sp>
        <p:nvSpPr>
          <p:cNvPr id="49" name="Parallelogram 48">
            <a:extLst>
              <a:ext uri="{FF2B5EF4-FFF2-40B4-BE49-F238E27FC236}">
                <a16:creationId xmlns:a16="http://schemas.microsoft.com/office/drawing/2014/main" xmlns="" id="{AA62FA5B-ACC9-4E05-AE46-9F3B86D4C431}"/>
              </a:ext>
            </a:extLst>
          </p:cNvPr>
          <p:cNvSpPr/>
          <p:nvPr/>
        </p:nvSpPr>
        <p:spPr>
          <a:xfrm>
            <a:off x="1559421" y="6238374"/>
            <a:ext cx="5119190" cy="188243"/>
          </a:xfrm>
          <a:prstGeom prst="parallelogram">
            <a:avLst>
              <a:gd name="adj" fmla="val 4364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xmlns="" id="{5AC282DA-7C29-46BE-8CAC-80C7A9CE41F7}"/>
              </a:ext>
            </a:extLst>
          </p:cNvPr>
          <p:cNvSpPr txBox="1"/>
          <p:nvPr/>
        </p:nvSpPr>
        <p:spPr>
          <a:xfrm>
            <a:off x="443410" y="6621644"/>
            <a:ext cx="6877202" cy="400110"/>
          </a:xfrm>
          <a:prstGeom prst="rect">
            <a:avLst/>
          </a:prstGeom>
          <a:noFill/>
        </p:spPr>
        <p:txBody>
          <a:bodyPr wrap="square" rtlCol="0">
            <a:spAutoFit/>
          </a:bodyPr>
          <a:lstStyle/>
          <a:p>
            <a:pPr algn="ctr"/>
            <a:r>
              <a:rPr lang="en-GB" sz="2000" dirty="0">
                <a:ln w="0"/>
                <a:solidFill>
                  <a:schemeClr val="bg1"/>
                </a:solidFill>
                <a:effectLst>
                  <a:outerShdw blurRad="38100" dist="25400" dir="5400000" algn="ctr" rotWithShape="0">
                    <a:srgbClr val="6E747A">
                      <a:alpha val="43000"/>
                    </a:srgbClr>
                  </a:outerShdw>
                </a:effectLst>
                <a:latin typeface="Agency FB" pitchFamily="34" charset="0"/>
              </a:rPr>
              <a:t>DEPARTMENT OF ELECTRONICS &amp; COMMUNICATION ENGINEERING</a:t>
            </a:r>
            <a:endParaRPr lang="en-IN" sz="2000" dirty="0">
              <a:ln w="0"/>
              <a:solidFill>
                <a:schemeClr val="bg1"/>
              </a:solidFill>
              <a:effectLst>
                <a:outerShdw blurRad="38100" dist="25400" dir="5400000" algn="ctr" rotWithShape="0">
                  <a:srgbClr val="6E747A">
                    <a:alpha val="43000"/>
                  </a:srgbClr>
                </a:outerShdw>
              </a:effectLst>
              <a:latin typeface="Agency FB" pitchFamily="34" charset="0"/>
            </a:endParaRPr>
          </a:p>
        </p:txBody>
      </p:sp>
      <p:pic>
        <p:nvPicPr>
          <p:cNvPr id="53" name="Graphic 52" descr="Email">
            <a:extLst>
              <a:ext uri="{FF2B5EF4-FFF2-40B4-BE49-F238E27FC236}">
                <a16:creationId xmlns:a16="http://schemas.microsoft.com/office/drawing/2014/main" xmlns="" id="{E9A374F8-9D1D-4E6F-A97B-8E8DF2D5D4A0}"/>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2895660" y="8132571"/>
            <a:ext cx="425181" cy="425181"/>
          </a:xfrm>
          <a:prstGeom prst="rect">
            <a:avLst/>
          </a:prstGeom>
        </p:spPr>
      </p:pic>
      <p:pic>
        <p:nvPicPr>
          <p:cNvPr id="55" name="Graphic 54" descr="Receiver">
            <a:extLst>
              <a:ext uri="{FF2B5EF4-FFF2-40B4-BE49-F238E27FC236}">
                <a16:creationId xmlns:a16="http://schemas.microsoft.com/office/drawing/2014/main" xmlns="" id="{6EFCF964-3BC1-4A87-8068-499CAB01FE6C}"/>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3970799" y="7142959"/>
            <a:ext cx="425181" cy="425181"/>
          </a:xfrm>
          <a:prstGeom prst="rect">
            <a:avLst/>
          </a:prstGeom>
        </p:spPr>
      </p:pic>
      <p:pic>
        <p:nvPicPr>
          <p:cNvPr id="57" name="Graphic 56" descr="Link">
            <a:hlinkClick r:id="rId8"/>
            <a:extLst>
              <a:ext uri="{FF2B5EF4-FFF2-40B4-BE49-F238E27FC236}">
                <a16:creationId xmlns:a16="http://schemas.microsoft.com/office/drawing/2014/main" xmlns="" id="{B1A1FB32-B201-48CC-8F68-AA21689FEB2D}"/>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p:blipFill>
        <p:spPr>
          <a:xfrm>
            <a:off x="3443212" y="7592741"/>
            <a:ext cx="425181" cy="425181"/>
          </a:xfrm>
          <a:prstGeom prst="rect">
            <a:avLst/>
          </a:prstGeom>
        </p:spPr>
      </p:pic>
      <p:pic>
        <p:nvPicPr>
          <p:cNvPr id="59" name="Graphic 58" descr="Marker">
            <a:hlinkClick r:id="rId11"/>
            <a:extLst>
              <a:ext uri="{FF2B5EF4-FFF2-40B4-BE49-F238E27FC236}">
                <a16:creationId xmlns:a16="http://schemas.microsoft.com/office/drawing/2014/main" xmlns="" id="{0E84346E-596B-4248-81EA-5B4BC505651B}"/>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2331583" y="8603742"/>
            <a:ext cx="425181" cy="425181"/>
          </a:xfrm>
          <a:prstGeom prst="rect">
            <a:avLst/>
          </a:prstGeom>
        </p:spPr>
      </p:pic>
      <p:sp>
        <p:nvSpPr>
          <p:cNvPr id="60" name="TextBox 59">
            <a:hlinkClick r:id="rId8"/>
            <a:extLst>
              <a:ext uri="{FF2B5EF4-FFF2-40B4-BE49-F238E27FC236}">
                <a16:creationId xmlns:a16="http://schemas.microsoft.com/office/drawing/2014/main" xmlns="" id="{C8230FE1-CE87-4C7B-9970-732E411BDC79}"/>
              </a:ext>
            </a:extLst>
          </p:cNvPr>
          <p:cNvSpPr txBox="1"/>
          <p:nvPr/>
        </p:nvSpPr>
        <p:spPr>
          <a:xfrm>
            <a:off x="3882011" y="7648917"/>
            <a:ext cx="3038521" cy="400110"/>
          </a:xfrm>
          <a:prstGeom prst="rect">
            <a:avLst/>
          </a:prstGeom>
          <a:noFill/>
        </p:spPr>
        <p:txBody>
          <a:bodyPr wrap="square" rtlCol="0">
            <a:spAutoFit/>
          </a:bodyPr>
          <a:lstStyle/>
          <a:p>
            <a:r>
              <a:rPr lang="en-IN" sz="2000" b="1" dirty="0">
                <a:solidFill>
                  <a:srgbClr val="00B050"/>
                </a:solidFill>
              </a:rPr>
              <a:t>http://www.gcetj.edu.in/</a:t>
            </a:r>
          </a:p>
        </p:txBody>
      </p:sp>
      <p:sp>
        <p:nvSpPr>
          <p:cNvPr id="2" name="TextBox 1">
            <a:extLst>
              <a:ext uri="{FF2B5EF4-FFF2-40B4-BE49-F238E27FC236}">
                <a16:creationId xmlns:a16="http://schemas.microsoft.com/office/drawing/2014/main" xmlns="" id="{56E18138-293E-4473-8FE4-42D319676B02}"/>
              </a:ext>
            </a:extLst>
          </p:cNvPr>
          <p:cNvSpPr txBox="1"/>
          <p:nvPr/>
        </p:nvSpPr>
        <p:spPr>
          <a:xfrm>
            <a:off x="-53522" y="7209241"/>
            <a:ext cx="3482521" cy="923330"/>
          </a:xfrm>
          <a:prstGeom prst="rect">
            <a:avLst/>
          </a:prstGeom>
          <a:noFill/>
        </p:spPr>
        <p:txBody>
          <a:bodyPr wrap="square" rtlCol="0">
            <a:spAutoFit/>
          </a:bodyPr>
          <a:lstStyle/>
          <a:p>
            <a:r>
              <a:rPr lang="en-GB" dirty="0">
                <a:solidFill>
                  <a:schemeClr val="bg1">
                    <a:lumMod val="85000"/>
                  </a:schemeClr>
                </a:solidFill>
              </a:rPr>
              <a:t>Staff co-ordinator: </a:t>
            </a:r>
          </a:p>
          <a:p>
            <a:r>
              <a:rPr lang="en-GB" dirty="0" smtClean="0">
                <a:solidFill>
                  <a:schemeClr val="bg1">
                    <a:lumMod val="85000"/>
                  </a:schemeClr>
                </a:solidFill>
              </a:rPr>
              <a:t>		Mr.A.Dinesh M.E AP</a:t>
            </a:r>
          </a:p>
          <a:p>
            <a:pPr algn="r"/>
            <a:r>
              <a:rPr lang="en-GB" dirty="0" smtClean="0">
                <a:solidFill>
                  <a:schemeClr val="bg1">
                    <a:lumMod val="85000"/>
                  </a:schemeClr>
                </a:solidFill>
              </a:rPr>
              <a:t>Mr</a:t>
            </a:r>
            <a:r>
              <a:rPr lang="en-GB" dirty="0">
                <a:solidFill>
                  <a:schemeClr val="bg1">
                    <a:lumMod val="85000"/>
                  </a:schemeClr>
                </a:solidFill>
              </a:rPr>
              <a:t>. Ashokan M.E Ph.D. AP</a:t>
            </a:r>
          </a:p>
        </p:txBody>
      </p:sp>
      <p:sp>
        <p:nvSpPr>
          <p:cNvPr id="3" name="TextBox 2">
            <a:extLst>
              <a:ext uri="{FF2B5EF4-FFF2-40B4-BE49-F238E27FC236}">
                <a16:creationId xmlns:a16="http://schemas.microsoft.com/office/drawing/2014/main" xmlns="" id="{16D03B1E-D042-430A-A349-B77E95DA63CB}"/>
              </a:ext>
            </a:extLst>
          </p:cNvPr>
          <p:cNvSpPr txBox="1"/>
          <p:nvPr/>
        </p:nvSpPr>
        <p:spPr>
          <a:xfrm>
            <a:off x="124056" y="8132571"/>
            <a:ext cx="2493812" cy="646331"/>
          </a:xfrm>
          <a:prstGeom prst="rect">
            <a:avLst/>
          </a:prstGeom>
          <a:noFill/>
        </p:spPr>
        <p:txBody>
          <a:bodyPr wrap="square" rtlCol="0">
            <a:spAutoFit/>
          </a:bodyPr>
          <a:lstStyle/>
          <a:p>
            <a:r>
              <a:rPr lang="en-GB" dirty="0">
                <a:solidFill>
                  <a:schemeClr val="bg1">
                    <a:lumMod val="65000"/>
                  </a:schemeClr>
                </a:solidFill>
              </a:rPr>
              <a:t>Student co-Ordinator:</a:t>
            </a:r>
          </a:p>
          <a:p>
            <a:r>
              <a:rPr lang="en-GB" dirty="0">
                <a:solidFill>
                  <a:schemeClr val="bg1">
                    <a:lumMod val="65000"/>
                  </a:schemeClr>
                </a:solidFill>
              </a:rPr>
              <a:t>	  </a:t>
            </a:r>
            <a:r>
              <a:rPr lang="en-GB" dirty="0" smtClean="0">
                <a:solidFill>
                  <a:schemeClr val="bg1">
                    <a:lumMod val="65000"/>
                  </a:schemeClr>
                </a:solidFill>
              </a:rPr>
              <a:t>    </a:t>
            </a:r>
            <a:r>
              <a:rPr lang="en-GB" dirty="0">
                <a:solidFill>
                  <a:schemeClr val="bg1">
                    <a:lumMod val="65000"/>
                  </a:schemeClr>
                </a:solidFill>
              </a:rPr>
              <a:t>Mullai Arun G</a:t>
            </a:r>
          </a:p>
        </p:txBody>
      </p:sp>
      <p:sp>
        <p:nvSpPr>
          <p:cNvPr id="4" name="TextBox 3">
            <a:extLst>
              <a:ext uri="{FF2B5EF4-FFF2-40B4-BE49-F238E27FC236}">
                <a16:creationId xmlns:a16="http://schemas.microsoft.com/office/drawing/2014/main" xmlns="" id="{70E218EE-7BB1-4196-B6EE-64F7F92E35CE}"/>
              </a:ext>
            </a:extLst>
          </p:cNvPr>
          <p:cNvSpPr txBox="1"/>
          <p:nvPr/>
        </p:nvSpPr>
        <p:spPr>
          <a:xfrm>
            <a:off x="4502594" y="7173787"/>
            <a:ext cx="2755583" cy="369332"/>
          </a:xfrm>
          <a:prstGeom prst="rect">
            <a:avLst/>
          </a:prstGeom>
          <a:noFill/>
        </p:spPr>
        <p:txBody>
          <a:bodyPr wrap="square" rtlCol="0">
            <a:spAutoFit/>
          </a:bodyPr>
          <a:lstStyle/>
          <a:p>
            <a:r>
              <a:rPr lang="en-GB" b="1" dirty="0">
                <a:solidFill>
                  <a:srgbClr val="00B050"/>
                </a:solidFill>
              </a:rPr>
              <a:t>+91 98941 73017</a:t>
            </a:r>
            <a:endParaRPr lang="en-IN" b="1" dirty="0">
              <a:solidFill>
                <a:srgbClr val="00B050"/>
              </a:solidFill>
            </a:endParaRPr>
          </a:p>
        </p:txBody>
      </p:sp>
      <p:sp>
        <p:nvSpPr>
          <p:cNvPr id="8" name="TextBox 7">
            <a:extLst>
              <a:ext uri="{FF2B5EF4-FFF2-40B4-BE49-F238E27FC236}">
                <a16:creationId xmlns:a16="http://schemas.microsoft.com/office/drawing/2014/main" xmlns="" id="{35FF4C36-C251-495C-82AD-F72FDF3E2E69}"/>
              </a:ext>
            </a:extLst>
          </p:cNvPr>
          <p:cNvSpPr txBox="1"/>
          <p:nvPr/>
        </p:nvSpPr>
        <p:spPr>
          <a:xfrm>
            <a:off x="3496414" y="8163638"/>
            <a:ext cx="2383972" cy="369332"/>
          </a:xfrm>
          <a:prstGeom prst="rect">
            <a:avLst/>
          </a:prstGeom>
          <a:noFill/>
        </p:spPr>
        <p:txBody>
          <a:bodyPr wrap="square" rtlCol="0">
            <a:spAutoFit/>
          </a:bodyPr>
          <a:lstStyle/>
          <a:p>
            <a:r>
              <a:rPr lang="en-GB" b="1" dirty="0">
                <a:solidFill>
                  <a:srgbClr val="00B050"/>
                </a:solidFill>
              </a:rPr>
              <a:t>adinesh@gcetj.edu.in</a:t>
            </a:r>
            <a:endParaRPr lang="en-IN" b="1" dirty="0">
              <a:solidFill>
                <a:srgbClr val="00B050"/>
              </a:solidFill>
            </a:endParaRPr>
          </a:p>
        </p:txBody>
      </p:sp>
      <p:sp>
        <p:nvSpPr>
          <p:cNvPr id="10" name="TextBox 9">
            <a:hlinkClick r:id="rId14"/>
            <a:extLst>
              <a:ext uri="{FF2B5EF4-FFF2-40B4-BE49-F238E27FC236}">
                <a16:creationId xmlns:a16="http://schemas.microsoft.com/office/drawing/2014/main" xmlns="" id="{AF89D060-29E5-4260-8115-A2908F1CB02F}"/>
              </a:ext>
            </a:extLst>
          </p:cNvPr>
          <p:cNvSpPr txBox="1"/>
          <p:nvPr/>
        </p:nvSpPr>
        <p:spPr>
          <a:xfrm>
            <a:off x="2756764" y="8647581"/>
            <a:ext cx="4534600" cy="369332"/>
          </a:xfrm>
          <a:prstGeom prst="rect">
            <a:avLst/>
          </a:prstGeom>
          <a:noFill/>
        </p:spPr>
        <p:txBody>
          <a:bodyPr wrap="square" rtlCol="0">
            <a:spAutoFit/>
          </a:bodyPr>
          <a:lstStyle/>
          <a:p>
            <a:r>
              <a:rPr lang="en-IN" b="1" dirty="0">
                <a:solidFill>
                  <a:srgbClr val="00B050"/>
                </a:solidFill>
              </a:rPr>
              <a:t>https://bit.ly/2ZvDCas</a:t>
            </a:r>
          </a:p>
        </p:txBody>
      </p:sp>
    </p:spTree>
    <p:extLst>
      <p:ext uri="{BB962C8B-B14F-4D97-AF65-F5344CB8AC3E}">
        <p14:creationId xmlns:p14="http://schemas.microsoft.com/office/powerpoint/2010/main" val="18192030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xmlns="" id="{EAC5D66A-DC35-4280-A33E-F953EFBC5185}"/>
              </a:ext>
            </a:extLst>
          </p:cNvPr>
          <p:cNvGrpSpPr/>
          <p:nvPr/>
        </p:nvGrpSpPr>
        <p:grpSpPr>
          <a:xfrm>
            <a:off x="0" y="0"/>
            <a:ext cx="4000500" cy="3600000"/>
            <a:chOff x="0" y="0"/>
            <a:chExt cx="4000500" cy="3600000"/>
          </a:xfrm>
        </p:grpSpPr>
        <p:sp>
          <p:nvSpPr>
            <p:cNvPr id="7" name="Right Triangle 6">
              <a:extLst>
                <a:ext uri="{FF2B5EF4-FFF2-40B4-BE49-F238E27FC236}">
                  <a16:creationId xmlns:a16="http://schemas.microsoft.com/office/drawing/2014/main" xmlns="" id="{1CD3F318-5D85-446C-AA32-4C010B129565}"/>
                </a:ext>
              </a:extLst>
            </p:cNvPr>
            <p:cNvSpPr/>
            <p:nvPr/>
          </p:nvSpPr>
          <p:spPr>
            <a:xfrm flipV="1">
              <a:off x="0" y="0"/>
              <a:ext cx="4000500" cy="3600000"/>
            </a:xfrm>
            <a:prstGeom prst="r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ight Triangle 3">
              <a:extLst>
                <a:ext uri="{FF2B5EF4-FFF2-40B4-BE49-F238E27FC236}">
                  <a16:creationId xmlns:a16="http://schemas.microsoft.com/office/drawing/2014/main" xmlns="" id="{066B0B52-AFF1-4A30-B5F5-9AAA81D2216D}"/>
                </a:ext>
              </a:extLst>
            </p:cNvPr>
            <p:cNvSpPr/>
            <p:nvPr/>
          </p:nvSpPr>
          <p:spPr>
            <a:xfrm flipV="1">
              <a:off x="0" y="0"/>
              <a:ext cx="3600000" cy="3600000"/>
            </a:xfrm>
            <a:prstGeom prst="rtTriangl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9" name="Group 8">
            <a:extLst>
              <a:ext uri="{FF2B5EF4-FFF2-40B4-BE49-F238E27FC236}">
                <a16:creationId xmlns:a16="http://schemas.microsoft.com/office/drawing/2014/main" xmlns="" id="{197CFDA4-D8C8-4E90-A1A7-93398EFBB8F5}"/>
              </a:ext>
            </a:extLst>
          </p:cNvPr>
          <p:cNvGrpSpPr/>
          <p:nvPr/>
        </p:nvGrpSpPr>
        <p:grpSpPr>
          <a:xfrm rot="10800000">
            <a:off x="2857500" y="5544000"/>
            <a:ext cx="4000500" cy="3600000"/>
            <a:chOff x="0" y="0"/>
            <a:chExt cx="4000500" cy="3600000"/>
          </a:xfrm>
        </p:grpSpPr>
        <p:sp>
          <p:nvSpPr>
            <p:cNvPr id="10" name="Right Triangle 9">
              <a:extLst>
                <a:ext uri="{FF2B5EF4-FFF2-40B4-BE49-F238E27FC236}">
                  <a16:creationId xmlns:a16="http://schemas.microsoft.com/office/drawing/2014/main" xmlns="" id="{7D8FEA9F-8ABD-4735-B90C-EAFA00BD13C2}"/>
                </a:ext>
              </a:extLst>
            </p:cNvPr>
            <p:cNvSpPr/>
            <p:nvPr/>
          </p:nvSpPr>
          <p:spPr>
            <a:xfrm flipV="1">
              <a:off x="0" y="0"/>
              <a:ext cx="4000500" cy="3600000"/>
            </a:xfrm>
            <a:prstGeom prst="r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ight Triangle 10">
              <a:extLst>
                <a:ext uri="{FF2B5EF4-FFF2-40B4-BE49-F238E27FC236}">
                  <a16:creationId xmlns:a16="http://schemas.microsoft.com/office/drawing/2014/main" xmlns="" id="{0AF7DB3A-6079-4C04-B15B-AF0CDA279493}"/>
                </a:ext>
              </a:extLst>
            </p:cNvPr>
            <p:cNvSpPr/>
            <p:nvPr/>
          </p:nvSpPr>
          <p:spPr>
            <a:xfrm flipV="1">
              <a:off x="0" y="0"/>
              <a:ext cx="3600000" cy="3600000"/>
            </a:xfrm>
            <a:prstGeom prst="rtTriangl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6" name="Picture 15" descr="IMG_0859_0.jpg">
            <a:extLst>
              <a:ext uri="{FF2B5EF4-FFF2-40B4-BE49-F238E27FC236}">
                <a16:creationId xmlns:a16="http://schemas.microsoft.com/office/drawing/2014/main" xmlns="" id="{71224FF7-5B7A-46CB-80D7-D90BE093777D}"/>
              </a:ext>
              <a:ext uri="{C183D7F6-B498-43B3-948B-1728B52AA6E4}">
                <adec:decorative xmlns:adec="http://schemas.microsoft.com/office/drawing/2017/decorative" xmlns="" val="0"/>
              </a:ext>
            </a:extLst>
          </p:cNvPr>
          <p:cNvPicPr>
            <a:picLocks noChangeAspect="1"/>
          </p:cNvPicPr>
          <p:nvPr/>
        </p:nvPicPr>
        <p:blipFill rotWithShape="1">
          <a:blip r:embed="rId2" cstate="print"/>
          <a:srcRect l="15080" t="9702" r="23297" b="746"/>
          <a:stretch/>
        </p:blipFill>
        <p:spPr>
          <a:xfrm>
            <a:off x="3977999" y="751032"/>
            <a:ext cx="2160000" cy="2160000"/>
          </a:xfrm>
          <a:custGeom>
            <a:avLst/>
            <a:gdLst>
              <a:gd name="connsiteX0" fmla="*/ 1080000 w 2160000"/>
              <a:gd name="connsiteY0" fmla="*/ 0 h 2160000"/>
              <a:gd name="connsiteX1" fmla="*/ 2160000 w 2160000"/>
              <a:gd name="connsiteY1" fmla="*/ 1080000 h 2160000"/>
              <a:gd name="connsiteX2" fmla="*/ 1080000 w 2160000"/>
              <a:gd name="connsiteY2" fmla="*/ 2160000 h 2160000"/>
              <a:gd name="connsiteX3" fmla="*/ 0 w 2160000"/>
              <a:gd name="connsiteY3" fmla="*/ 1080000 h 2160000"/>
              <a:gd name="connsiteX4" fmla="*/ 1080000 w 2160000"/>
              <a:gd name="connsiteY4" fmla="*/ 0 h 21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00" h="2160000">
                <a:moveTo>
                  <a:pt x="1080000" y="0"/>
                </a:moveTo>
                <a:cubicBezTo>
                  <a:pt x="1676468" y="0"/>
                  <a:pt x="2160000" y="483532"/>
                  <a:pt x="2160000" y="1080000"/>
                </a:cubicBezTo>
                <a:cubicBezTo>
                  <a:pt x="2160000" y="1676468"/>
                  <a:pt x="1676468" y="2160000"/>
                  <a:pt x="1080000" y="2160000"/>
                </a:cubicBezTo>
                <a:cubicBezTo>
                  <a:pt x="483532" y="2160000"/>
                  <a:pt x="0" y="1676468"/>
                  <a:pt x="0" y="1080000"/>
                </a:cubicBezTo>
                <a:cubicBezTo>
                  <a:pt x="0" y="483532"/>
                  <a:pt x="483532" y="0"/>
                  <a:pt x="1080000" y="0"/>
                </a:cubicBezTo>
                <a:close/>
              </a:path>
            </a:pathLst>
          </a:custGeom>
          <a:effectLst>
            <a:outerShdw blurRad="50800" dist="38100" dir="8100000" algn="tr" rotWithShape="0">
              <a:prstClr val="black">
                <a:alpha val="40000"/>
              </a:prstClr>
            </a:outerShdw>
          </a:effectLst>
        </p:spPr>
      </p:pic>
      <p:sp>
        <p:nvSpPr>
          <p:cNvPr id="18" name="TextBox 17">
            <a:extLst>
              <a:ext uri="{FF2B5EF4-FFF2-40B4-BE49-F238E27FC236}">
                <a16:creationId xmlns:a16="http://schemas.microsoft.com/office/drawing/2014/main" xmlns="" id="{0F97721D-AE43-41FD-B178-ABD8EE7500BD}"/>
              </a:ext>
            </a:extLst>
          </p:cNvPr>
          <p:cNvSpPr txBox="1"/>
          <p:nvPr/>
        </p:nvSpPr>
        <p:spPr>
          <a:xfrm>
            <a:off x="149961" y="3521908"/>
            <a:ext cx="6558077" cy="1200329"/>
          </a:xfrm>
          <a:prstGeom prst="rect">
            <a:avLst/>
          </a:prstGeom>
          <a:noFill/>
        </p:spPr>
        <p:txBody>
          <a:bodyPr wrap="square">
            <a:spAutoFit/>
          </a:bodyPr>
          <a:lstStyle/>
          <a:p>
            <a:pPr algn="just"/>
            <a:r>
              <a:rPr lang="en-US" sz="1800" dirty="0" smtClean="0">
                <a:ln>
                  <a:solidFill>
                    <a:srgbClr val="002060">
                      <a:alpha val="24000"/>
                    </a:srgbClr>
                  </a:solidFill>
                </a:ln>
                <a:latin typeface="Agency FB" pitchFamily="34" charset="0"/>
                <a:cs typeface="Times New Roman" pitchFamily="18" charset="0"/>
              </a:rPr>
              <a:t>Government </a:t>
            </a:r>
            <a:r>
              <a:rPr lang="en-US" sz="1800" dirty="0">
                <a:ln>
                  <a:solidFill>
                    <a:srgbClr val="002060">
                      <a:alpha val="24000"/>
                    </a:srgbClr>
                  </a:solidFill>
                </a:ln>
                <a:latin typeface="Agency FB" pitchFamily="34" charset="0"/>
                <a:cs typeface="Times New Roman" pitchFamily="18" charset="0"/>
              </a:rPr>
              <a:t>College of Engineering, Thanjavur was established in the year 2013 by Government of Tamil </a:t>
            </a:r>
            <a:r>
              <a:rPr lang="en-US" dirty="0">
                <a:ln>
                  <a:solidFill>
                    <a:srgbClr val="002060">
                      <a:alpha val="24000"/>
                    </a:srgbClr>
                  </a:solidFill>
                </a:ln>
                <a:latin typeface="Agency FB" pitchFamily="34" charset="0"/>
                <a:cs typeface="Times New Roman" pitchFamily="18" charset="0"/>
              </a:rPr>
              <a:t>N</a:t>
            </a:r>
            <a:r>
              <a:rPr lang="en-US" sz="1800" dirty="0">
                <a:ln>
                  <a:solidFill>
                    <a:srgbClr val="002060">
                      <a:alpha val="24000"/>
                    </a:srgbClr>
                  </a:solidFill>
                </a:ln>
                <a:latin typeface="Agency FB" pitchFamily="34" charset="0"/>
                <a:cs typeface="Times New Roman" pitchFamily="18" charset="0"/>
              </a:rPr>
              <a:t>adu to cater to the needs of technical education in emerging areas of engineering and excellence in research in different disciplines of science and engineering. </a:t>
            </a:r>
            <a:r>
              <a:rPr lang="en-IN" sz="1800" dirty="0">
                <a:ln>
                  <a:solidFill>
                    <a:srgbClr val="002060">
                      <a:alpha val="24000"/>
                    </a:srgbClr>
                  </a:solidFill>
                </a:ln>
                <a:latin typeface="Agency FB" pitchFamily="34" charset="0"/>
                <a:cs typeface="Times New Roman" pitchFamily="18" charset="0"/>
              </a:rPr>
              <a:t>       </a:t>
            </a:r>
            <a:r>
              <a:rPr lang="en-IN" sz="1800" dirty="0">
                <a:latin typeface="Agency FB" pitchFamily="34" charset="0"/>
              </a:rPr>
              <a:t>  </a:t>
            </a:r>
            <a:endParaRPr lang="en-IN" dirty="0">
              <a:latin typeface="Agency FB" pitchFamily="34" charset="0"/>
            </a:endParaRPr>
          </a:p>
        </p:txBody>
      </p:sp>
      <p:sp>
        <p:nvSpPr>
          <p:cNvPr id="19" name="TextBox 18">
            <a:extLst>
              <a:ext uri="{FF2B5EF4-FFF2-40B4-BE49-F238E27FC236}">
                <a16:creationId xmlns:a16="http://schemas.microsoft.com/office/drawing/2014/main" xmlns="" id="{C7431932-F196-4705-8CF5-672C9B5DA240}"/>
              </a:ext>
            </a:extLst>
          </p:cNvPr>
          <p:cNvSpPr txBox="1"/>
          <p:nvPr/>
        </p:nvSpPr>
        <p:spPr>
          <a:xfrm>
            <a:off x="4331325" y="252209"/>
            <a:ext cx="1767000" cy="461665"/>
          </a:xfrm>
          <a:prstGeom prst="rect">
            <a:avLst/>
          </a:prstGeom>
          <a:noFill/>
        </p:spPr>
        <p:txBody>
          <a:bodyPr wrap="square" rtlCol="0">
            <a:spAutoFit/>
          </a:bodyPr>
          <a:lstStyle/>
          <a:p>
            <a:r>
              <a:rPr lang="en-GB" sz="2400" b="1" dirty="0">
                <a:solidFill>
                  <a:schemeClr val="tx2">
                    <a:lumMod val="50000"/>
                  </a:schemeClr>
                </a:solidFill>
              </a:rPr>
              <a:t>PRINCIPAL</a:t>
            </a:r>
            <a:endParaRPr lang="en-IN" sz="2400" b="1" dirty="0">
              <a:solidFill>
                <a:schemeClr val="tx2">
                  <a:lumMod val="50000"/>
                </a:schemeClr>
              </a:solidFill>
            </a:endParaRPr>
          </a:p>
        </p:txBody>
      </p:sp>
      <p:sp>
        <p:nvSpPr>
          <p:cNvPr id="22" name="Parallelogram 21">
            <a:extLst>
              <a:ext uri="{FF2B5EF4-FFF2-40B4-BE49-F238E27FC236}">
                <a16:creationId xmlns:a16="http://schemas.microsoft.com/office/drawing/2014/main" xmlns="" id="{270CC8F6-5860-4F62-BFBB-8789DC23E290}"/>
              </a:ext>
            </a:extLst>
          </p:cNvPr>
          <p:cNvSpPr/>
          <p:nvPr/>
        </p:nvSpPr>
        <p:spPr>
          <a:xfrm>
            <a:off x="3703500" y="3046656"/>
            <a:ext cx="2708998" cy="273516"/>
          </a:xfrm>
          <a:prstGeom prst="parallelogram">
            <a:avLst>
              <a:gd name="adj" fmla="val 26773"/>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ln w="0"/>
                <a:solidFill>
                  <a:schemeClr val="accent1">
                    <a:lumMod val="75000"/>
                  </a:schemeClr>
                </a:solidFill>
                <a:effectLst>
                  <a:outerShdw blurRad="38100" dist="25400" dir="5400000" algn="ctr" rotWithShape="0">
                    <a:srgbClr val="6E747A">
                      <a:alpha val="43000"/>
                    </a:srgbClr>
                  </a:outerShdw>
                </a:effectLst>
              </a:rPr>
              <a:t>Dr . R . Vijayan</a:t>
            </a:r>
            <a:endParaRPr lang="en-IN" b="1" dirty="0">
              <a:ln w="0"/>
              <a:solidFill>
                <a:schemeClr val="accent1">
                  <a:lumMod val="75000"/>
                </a:schemeClr>
              </a:solidFill>
              <a:effectLst>
                <a:outerShdw blurRad="38100" dist="25400" dir="5400000" algn="ctr" rotWithShape="0">
                  <a:srgbClr val="6E747A">
                    <a:alpha val="43000"/>
                  </a:srgbClr>
                </a:outerShdw>
              </a:effectLst>
            </a:endParaRPr>
          </a:p>
        </p:txBody>
      </p:sp>
      <p:sp>
        <p:nvSpPr>
          <p:cNvPr id="23" name="TextBox 22">
            <a:extLst>
              <a:ext uri="{FF2B5EF4-FFF2-40B4-BE49-F238E27FC236}">
                <a16:creationId xmlns:a16="http://schemas.microsoft.com/office/drawing/2014/main" xmlns="" id="{A8ECE39B-0AAD-4874-9633-0B55C22EF4D8}"/>
              </a:ext>
            </a:extLst>
          </p:cNvPr>
          <p:cNvSpPr txBox="1"/>
          <p:nvPr/>
        </p:nvSpPr>
        <p:spPr>
          <a:xfrm>
            <a:off x="149961" y="6409420"/>
            <a:ext cx="4326346" cy="1477328"/>
          </a:xfrm>
          <a:prstGeom prst="rect">
            <a:avLst/>
          </a:prstGeom>
          <a:noFill/>
        </p:spPr>
        <p:txBody>
          <a:bodyPr wrap="square" rtlCol="0">
            <a:spAutoFit/>
          </a:bodyPr>
          <a:lstStyle/>
          <a:p>
            <a:r>
              <a:rPr lang="en-IN" sz="1800" b="1" dirty="0">
                <a:ln>
                  <a:solidFill>
                    <a:srgbClr val="002060">
                      <a:alpha val="24000"/>
                    </a:srgbClr>
                  </a:solidFill>
                </a:ln>
                <a:effectLst>
                  <a:outerShdw blurRad="38100" dist="38100" dir="2700000" algn="tl">
                    <a:srgbClr val="000000">
                      <a:alpha val="43137"/>
                    </a:srgbClr>
                  </a:outerShdw>
                </a:effectLst>
                <a:latin typeface="Times New Roman" pitchFamily="18" charset="0"/>
                <a:cs typeface="Times New Roman" pitchFamily="18" charset="0"/>
              </a:rPr>
              <a:t> </a:t>
            </a:r>
            <a:endParaRPr lang="en-IN" sz="1800" b="1" dirty="0" smtClean="0">
              <a:ln>
                <a:solidFill>
                  <a:srgbClr val="002060">
                    <a:alpha val="24000"/>
                  </a:srgbClr>
                </a:solidFill>
              </a:ln>
              <a:effectLst>
                <a:outerShdw blurRad="38100" dist="38100" dir="2700000" algn="tl">
                  <a:srgbClr val="000000">
                    <a:alpha val="43137"/>
                  </a:srgbClr>
                </a:outerShdw>
              </a:effectLst>
              <a:latin typeface="Times New Roman" pitchFamily="18" charset="0"/>
              <a:cs typeface="Times New Roman" pitchFamily="18" charset="0"/>
            </a:endParaRPr>
          </a:p>
          <a:p>
            <a:r>
              <a:rPr lang="en-IN" sz="1800" dirty="0" smtClean="0">
                <a:ln>
                  <a:solidFill>
                    <a:srgbClr val="002060">
                      <a:alpha val="24000"/>
                    </a:srgbClr>
                  </a:solidFill>
                </a:ln>
                <a:latin typeface="Agency FB" pitchFamily="34" charset="0"/>
                <a:cs typeface="Times New Roman" pitchFamily="18" charset="0"/>
              </a:rPr>
              <a:t>65 </a:t>
            </a:r>
            <a:r>
              <a:rPr lang="en-IN" sz="1800" dirty="0">
                <a:ln>
                  <a:solidFill>
                    <a:srgbClr val="002060">
                      <a:alpha val="24000"/>
                    </a:srgbClr>
                  </a:solidFill>
                </a:ln>
                <a:latin typeface="Agency FB" pitchFamily="34" charset="0"/>
                <a:cs typeface="Times New Roman" pitchFamily="18" charset="0"/>
              </a:rPr>
              <a:t>% pass percentage has been achieved by the student in past two academic years. Around 1000 students are studying in this institution, 200 students are belonging to Electronics &amp; communication engineering discipline.</a:t>
            </a:r>
            <a:endParaRPr lang="en-IN" dirty="0">
              <a:latin typeface="Agency FB" pitchFamily="34" charset="0"/>
            </a:endParaRPr>
          </a:p>
        </p:txBody>
      </p:sp>
      <p:sp>
        <p:nvSpPr>
          <p:cNvPr id="24" name="TextBox 23">
            <a:extLst>
              <a:ext uri="{FF2B5EF4-FFF2-40B4-BE49-F238E27FC236}">
                <a16:creationId xmlns:a16="http://schemas.microsoft.com/office/drawing/2014/main" xmlns="" id="{475C86BC-38D3-4856-8EBE-1A073BBBFB75}"/>
              </a:ext>
            </a:extLst>
          </p:cNvPr>
          <p:cNvSpPr txBox="1"/>
          <p:nvPr/>
        </p:nvSpPr>
        <p:spPr>
          <a:xfrm>
            <a:off x="141150" y="4932092"/>
            <a:ext cx="5833199" cy="1477328"/>
          </a:xfrm>
          <a:prstGeom prst="rect">
            <a:avLst/>
          </a:prstGeom>
          <a:noFill/>
        </p:spPr>
        <p:txBody>
          <a:bodyPr wrap="square" rtlCol="0">
            <a:spAutoFit/>
          </a:bodyPr>
          <a:lstStyle/>
          <a:p>
            <a:pPr algn="just"/>
            <a:r>
              <a:rPr lang="en-US" sz="1800" dirty="0">
                <a:ln>
                  <a:solidFill>
                    <a:srgbClr val="002060">
                      <a:alpha val="24000"/>
                    </a:srgbClr>
                  </a:solidFill>
                </a:ln>
                <a:latin typeface="Agency FB" pitchFamily="34" charset="0"/>
                <a:cs typeface="Times New Roman" pitchFamily="18" charset="0"/>
              </a:rPr>
              <a:t>The Tamil Nadu Government has created adequate infrastructural facilities and sufficient funds and is keen on developing the institute for higher education. The college has been located on 35.73 acres, 20 km from the city of Thanjavur and 35 km from the city of Trichy on Sengipatti - Gandharvakottai Main road</a:t>
            </a:r>
            <a:r>
              <a:rPr lang="en-US" sz="1800" b="1" dirty="0">
                <a:ln>
                  <a:solidFill>
                    <a:srgbClr val="002060">
                      <a:alpha val="24000"/>
                    </a:srgbClr>
                  </a:solidFill>
                </a:ln>
                <a:effectLst>
                  <a:outerShdw blurRad="38100" dist="38100" dir="2700000" algn="tl">
                    <a:srgbClr val="000000">
                      <a:alpha val="43137"/>
                    </a:srgbClr>
                  </a:outerShdw>
                </a:effectLst>
                <a:latin typeface="Agency FB" pitchFamily="34" charset="0"/>
                <a:cs typeface="Times New Roman" pitchFamily="18" charset="0"/>
              </a:rPr>
              <a:t>.</a:t>
            </a:r>
            <a:endParaRPr lang="en-IN" sz="1800" b="1" dirty="0">
              <a:ln>
                <a:solidFill>
                  <a:srgbClr val="002060">
                    <a:alpha val="24000"/>
                  </a:srgbClr>
                </a:solidFill>
              </a:ln>
              <a:effectLst>
                <a:outerShdw blurRad="38100" dist="38100" dir="2700000" algn="tl">
                  <a:srgbClr val="000000">
                    <a:alpha val="43137"/>
                  </a:srgbClr>
                </a:outerShdw>
              </a:effectLst>
              <a:latin typeface="Agency FB" pitchFamily="34" charset="0"/>
              <a:cs typeface="Times New Roman" pitchFamily="18" charset="0"/>
            </a:endParaRPr>
          </a:p>
        </p:txBody>
      </p:sp>
    </p:spTree>
    <p:extLst>
      <p:ext uri="{BB962C8B-B14F-4D97-AF65-F5344CB8AC3E}">
        <p14:creationId xmlns:p14="http://schemas.microsoft.com/office/powerpoint/2010/main" val="35104101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arallelogram 4">
            <a:extLst>
              <a:ext uri="{FF2B5EF4-FFF2-40B4-BE49-F238E27FC236}">
                <a16:creationId xmlns:a16="http://schemas.microsoft.com/office/drawing/2014/main" xmlns="" id="{D60EC3F8-C5C2-4492-8DD9-355923269BB8}"/>
              </a:ext>
            </a:extLst>
          </p:cNvPr>
          <p:cNvSpPr/>
          <p:nvPr/>
        </p:nvSpPr>
        <p:spPr>
          <a:xfrm>
            <a:off x="228600" y="0"/>
            <a:ext cx="1085850" cy="9144000"/>
          </a:xfrm>
          <a:prstGeom prst="parallelogram">
            <a:avLst>
              <a:gd name="adj" fmla="val 64000"/>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Parallelogram 3">
            <a:extLst>
              <a:ext uri="{FF2B5EF4-FFF2-40B4-BE49-F238E27FC236}">
                <a16:creationId xmlns:a16="http://schemas.microsoft.com/office/drawing/2014/main" xmlns="" id="{81A3CE5E-0A53-4DC3-B1E5-8CEC13B86B0C}"/>
              </a:ext>
            </a:extLst>
          </p:cNvPr>
          <p:cNvSpPr/>
          <p:nvPr/>
        </p:nvSpPr>
        <p:spPr>
          <a:xfrm>
            <a:off x="0" y="0"/>
            <a:ext cx="1085850" cy="9144000"/>
          </a:xfrm>
          <a:prstGeom prst="parallelogram">
            <a:avLst>
              <a:gd name="adj" fmla="val 64000"/>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xmlns="" id="{73C3D4DC-65A6-4A03-B310-E0F0983BDF34}"/>
              </a:ext>
            </a:extLst>
          </p:cNvPr>
          <p:cNvSpPr txBox="1"/>
          <p:nvPr/>
        </p:nvSpPr>
        <p:spPr>
          <a:xfrm>
            <a:off x="1885950" y="476250"/>
            <a:ext cx="4533900" cy="954107"/>
          </a:xfrm>
          <a:prstGeom prst="rect">
            <a:avLst/>
          </a:prstGeom>
          <a:noFill/>
        </p:spPr>
        <p:txBody>
          <a:bodyPr wrap="square" rtlCol="0">
            <a:spAutoFit/>
          </a:bodyPr>
          <a:lstStyle/>
          <a:p>
            <a:pPr algn="ctr"/>
            <a:r>
              <a:rPr lang="en-GB" sz="2800" b="1" dirty="0">
                <a:solidFill>
                  <a:schemeClr val="tx1">
                    <a:lumMod val="95000"/>
                    <a:lumOff val="5000"/>
                  </a:schemeClr>
                </a:solidFill>
                <a:latin typeface="Agency FB" pitchFamily="34" charset="0"/>
              </a:rPr>
              <a:t>ABOUT </a:t>
            </a:r>
          </a:p>
          <a:p>
            <a:pPr algn="ctr"/>
            <a:r>
              <a:rPr lang="en-GB" sz="2800" b="1" dirty="0">
                <a:solidFill>
                  <a:schemeClr val="tx1">
                    <a:lumMod val="95000"/>
                    <a:lumOff val="5000"/>
                  </a:schemeClr>
                </a:solidFill>
                <a:latin typeface="Agency FB" pitchFamily="34" charset="0"/>
              </a:rPr>
              <a:t>THE DEPARTMENT</a:t>
            </a:r>
          </a:p>
        </p:txBody>
      </p:sp>
      <p:sp>
        <p:nvSpPr>
          <p:cNvPr id="10" name="TextBox 9">
            <a:extLst>
              <a:ext uri="{FF2B5EF4-FFF2-40B4-BE49-F238E27FC236}">
                <a16:creationId xmlns:a16="http://schemas.microsoft.com/office/drawing/2014/main" xmlns="" id="{2E2D3ED8-668F-4533-AE78-7954952B4411}"/>
              </a:ext>
            </a:extLst>
          </p:cNvPr>
          <p:cNvSpPr txBox="1"/>
          <p:nvPr/>
        </p:nvSpPr>
        <p:spPr>
          <a:xfrm>
            <a:off x="1314450" y="1839575"/>
            <a:ext cx="5314950" cy="4524315"/>
          </a:xfrm>
          <a:prstGeom prst="rect">
            <a:avLst/>
          </a:prstGeom>
          <a:noFill/>
        </p:spPr>
        <p:txBody>
          <a:bodyPr wrap="square" rtlCol="0">
            <a:spAutoFit/>
          </a:bodyPr>
          <a:lstStyle/>
          <a:p>
            <a:pPr algn="just"/>
            <a:r>
              <a:rPr lang="en-US" sz="2400" dirty="0">
                <a:solidFill>
                  <a:schemeClr val="tx2">
                    <a:lumMod val="50000"/>
                  </a:schemeClr>
                </a:solidFill>
                <a:latin typeface="Agency FB" pitchFamily="34" charset="0"/>
              </a:rPr>
              <a:t>Electronics and communication Engineering is the one of the major discipline in the engineering profession and its principles are involved in the design, study, development and construction of nearby all of the physical devices and system to help the mankind. It is One of the founding department of Government College of Engineering(GCE)sengipatti, Thanjavur. Today the department of Electronics and communication Engineering GCE attracts and features an extraordinary and rich diversity and quantity of talented individuals, with  11 faculty members (50% of staff with Ph.D qualification</a:t>
            </a:r>
            <a:r>
              <a:rPr lang="en-US" sz="2400" b="1" dirty="0">
                <a:solidFill>
                  <a:schemeClr val="tx2">
                    <a:lumMod val="50000"/>
                  </a:schemeClr>
                </a:solidFill>
                <a:latin typeface="Agency FB" pitchFamily="34" charset="0"/>
              </a:rPr>
              <a:t>).</a:t>
            </a:r>
          </a:p>
        </p:txBody>
      </p:sp>
      <p:sp>
        <p:nvSpPr>
          <p:cNvPr id="11" name="Rectangle 10">
            <a:extLst>
              <a:ext uri="{FF2B5EF4-FFF2-40B4-BE49-F238E27FC236}">
                <a16:creationId xmlns:a16="http://schemas.microsoft.com/office/drawing/2014/main" xmlns="" id="{EB5B127D-CFF6-4FF5-A711-171A688BC35B}"/>
              </a:ext>
            </a:extLst>
          </p:cNvPr>
          <p:cNvSpPr/>
          <p:nvPr/>
        </p:nvSpPr>
        <p:spPr>
          <a:xfrm>
            <a:off x="3429000" y="1430357"/>
            <a:ext cx="1447800" cy="45719"/>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629492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BC6530FE-A075-46A1-B872-F8B19F322C0E}"/>
              </a:ext>
            </a:extLst>
          </p:cNvPr>
          <p:cNvSpPr/>
          <p:nvPr/>
        </p:nvSpPr>
        <p:spPr>
          <a:xfrm>
            <a:off x="5600700" y="0"/>
            <a:ext cx="1085850" cy="9144000"/>
          </a:xfrm>
          <a:prstGeom prst="parallelogram">
            <a:avLst>
              <a:gd name="adj" fmla="val 64000"/>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Parallelogram 2">
            <a:extLst>
              <a:ext uri="{FF2B5EF4-FFF2-40B4-BE49-F238E27FC236}">
                <a16:creationId xmlns:a16="http://schemas.microsoft.com/office/drawing/2014/main" xmlns="" id="{37E6B0A3-A687-4833-AF50-213C2C5F2A79}"/>
              </a:ext>
            </a:extLst>
          </p:cNvPr>
          <p:cNvSpPr/>
          <p:nvPr/>
        </p:nvSpPr>
        <p:spPr>
          <a:xfrm>
            <a:off x="5749556" y="0"/>
            <a:ext cx="1085850" cy="9144000"/>
          </a:xfrm>
          <a:prstGeom prst="parallelogram">
            <a:avLst>
              <a:gd name="adj" fmla="val 64000"/>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xmlns="" id="{6508936D-5870-42CB-8CEF-C06F482F6A57}"/>
              </a:ext>
            </a:extLst>
          </p:cNvPr>
          <p:cNvSpPr txBox="1"/>
          <p:nvPr/>
        </p:nvSpPr>
        <p:spPr>
          <a:xfrm>
            <a:off x="1066800" y="304800"/>
            <a:ext cx="4705350"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sz="2400" b="1" dirty="0" smtClean="0">
                <a:solidFill>
                  <a:schemeClr val="tx1">
                    <a:lumMod val="95000"/>
                    <a:lumOff val="5000"/>
                  </a:schemeClr>
                </a:solidFill>
                <a:latin typeface="Agency FB" pitchFamily="34" charset="0"/>
              </a:rPr>
              <a:t>DEPARTMENT FACULTIES</a:t>
            </a:r>
            <a:endParaRPr lang="en-GB" sz="2400" b="1" dirty="0">
              <a:solidFill>
                <a:schemeClr val="tx1">
                  <a:lumMod val="95000"/>
                  <a:lumOff val="5000"/>
                </a:schemeClr>
              </a:solidFill>
              <a:latin typeface="Agency FB" pitchFamily="34" charset="0"/>
            </a:endParaRPr>
          </a:p>
        </p:txBody>
      </p:sp>
      <p:sp>
        <p:nvSpPr>
          <p:cNvPr id="5" name="Oval 4">
            <a:extLst>
              <a:ext uri="{FF2B5EF4-FFF2-40B4-BE49-F238E27FC236}">
                <a16:creationId xmlns:a16="http://schemas.microsoft.com/office/drawing/2014/main" xmlns="" id="{8A71812A-7CDE-4BD6-A94E-1E3A3A73BD43}"/>
              </a:ext>
            </a:extLst>
          </p:cNvPr>
          <p:cNvSpPr/>
          <p:nvPr/>
        </p:nvSpPr>
        <p:spPr>
          <a:xfrm>
            <a:off x="346800" y="1502152"/>
            <a:ext cx="1440000" cy="1440000"/>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ED513EE2-7EFC-4232-987A-507BEA7D4026}"/>
              </a:ext>
            </a:extLst>
          </p:cNvPr>
          <p:cNvSpPr/>
          <p:nvPr/>
        </p:nvSpPr>
        <p:spPr>
          <a:xfrm>
            <a:off x="4164602" y="2942152"/>
            <a:ext cx="1436098" cy="1440000"/>
          </a:xfrm>
          <a:prstGeom prst="ellipse">
            <a:avLst/>
          </a:prstGeom>
          <a:blipFill dpi="0" rotWithShape="1">
            <a:blip r:embed="rId3">
              <a:extLst>
                <a:ext uri="{28A0092B-C50C-407E-A947-70E740481C1C}">
                  <a14:useLocalDpi xmlns:a14="http://schemas.microsoft.com/office/drawing/2010/main" val="0"/>
                </a:ext>
              </a:extLst>
            </a:blip>
            <a:srcRect/>
            <a:stretch>
              <a:fillRect r="-27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xmlns="" id="{342DFB33-3B20-4E16-9AEF-6518907A218D}"/>
              </a:ext>
            </a:extLst>
          </p:cNvPr>
          <p:cNvSpPr/>
          <p:nvPr/>
        </p:nvSpPr>
        <p:spPr>
          <a:xfrm>
            <a:off x="346800" y="4382152"/>
            <a:ext cx="1440000" cy="1440000"/>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Oval 11">
            <a:extLst>
              <a:ext uri="{FF2B5EF4-FFF2-40B4-BE49-F238E27FC236}">
                <a16:creationId xmlns:a16="http://schemas.microsoft.com/office/drawing/2014/main" xmlns="" id="{7A9998A9-D1D4-427E-BE2B-4F8FAF7C3699}"/>
              </a:ext>
            </a:extLst>
          </p:cNvPr>
          <p:cNvSpPr/>
          <p:nvPr/>
        </p:nvSpPr>
        <p:spPr>
          <a:xfrm>
            <a:off x="4246425" y="5822152"/>
            <a:ext cx="1440000" cy="1440000"/>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Oval 12">
            <a:extLst>
              <a:ext uri="{FF2B5EF4-FFF2-40B4-BE49-F238E27FC236}">
                <a16:creationId xmlns:a16="http://schemas.microsoft.com/office/drawing/2014/main" xmlns="" id="{D91934F7-F412-4393-BC7A-E968EC0FAD51}"/>
              </a:ext>
            </a:extLst>
          </p:cNvPr>
          <p:cNvSpPr/>
          <p:nvPr/>
        </p:nvSpPr>
        <p:spPr>
          <a:xfrm>
            <a:off x="346800" y="7399200"/>
            <a:ext cx="1440000" cy="1440000"/>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TextBox 14">
            <a:extLst>
              <a:ext uri="{FF2B5EF4-FFF2-40B4-BE49-F238E27FC236}">
                <a16:creationId xmlns:a16="http://schemas.microsoft.com/office/drawing/2014/main" xmlns="" id="{D0994F34-DA97-4284-B376-A2EC94BAC1FD}"/>
              </a:ext>
            </a:extLst>
          </p:cNvPr>
          <p:cNvSpPr txBox="1"/>
          <p:nvPr/>
        </p:nvSpPr>
        <p:spPr>
          <a:xfrm>
            <a:off x="1969048" y="1868209"/>
            <a:ext cx="3573599" cy="707886"/>
          </a:xfrm>
          <a:prstGeom prst="rect">
            <a:avLst/>
          </a:prstGeom>
          <a:noFill/>
        </p:spPr>
        <p:txBody>
          <a:bodyPr wrap="square" rtlCol="0">
            <a:spAutoFit/>
          </a:bodyPr>
          <a:lstStyle/>
          <a:p>
            <a:r>
              <a:rPr lang="en-GB" sz="2000" b="1" dirty="0">
                <a:solidFill>
                  <a:schemeClr val="tx2">
                    <a:lumMod val="50000"/>
                  </a:schemeClr>
                </a:solidFill>
              </a:rPr>
              <a:t>Mr. R Ramji M.E</a:t>
            </a:r>
          </a:p>
          <a:p>
            <a:r>
              <a:rPr lang="en-GB" sz="2000" dirty="0">
                <a:solidFill>
                  <a:schemeClr val="tx2">
                    <a:lumMod val="75000"/>
                  </a:schemeClr>
                </a:solidFill>
              </a:rPr>
              <a:t>(Assistant Professor)</a:t>
            </a:r>
            <a:endParaRPr lang="en-IN" sz="2000" dirty="0">
              <a:solidFill>
                <a:schemeClr val="tx2">
                  <a:lumMod val="75000"/>
                </a:schemeClr>
              </a:solidFill>
            </a:endParaRPr>
          </a:p>
        </p:txBody>
      </p:sp>
      <p:sp>
        <p:nvSpPr>
          <p:cNvPr id="16" name="TextBox 15">
            <a:extLst>
              <a:ext uri="{FF2B5EF4-FFF2-40B4-BE49-F238E27FC236}">
                <a16:creationId xmlns:a16="http://schemas.microsoft.com/office/drawing/2014/main" xmlns="" id="{43BC9B36-03BF-421A-980A-8D08E1D55D24}"/>
              </a:ext>
            </a:extLst>
          </p:cNvPr>
          <p:cNvSpPr txBox="1"/>
          <p:nvPr/>
        </p:nvSpPr>
        <p:spPr>
          <a:xfrm>
            <a:off x="906599" y="3259066"/>
            <a:ext cx="3573599" cy="707886"/>
          </a:xfrm>
          <a:prstGeom prst="rect">
            <a:avLst/>
          </a:prstGeom>
          <a:noFill/>
        </p:spPr>
        <p:txBody>
          <a:bodyPr wrap="square" rtlCol="0">
            <a:spAutoFit/>
          </a:bodyPr>
          <a:lstStyle/>
          <a:p>
            <a:r>
              <a:rPr lang="en-GB" sz="2000" b="1" dirty="0">
                <a:solidFill>
                  <a:schemeClr val="tx2">
                    <a:lumMod val="50000"/>
                  </a:schemeClr>
                </a:solidFill>
              </a:rPr>
              <a:t>Mr. K Manikandan M.E</a:t>
            </a:r>
          </a:p>
          <a:p>
            <a:r>
              <a:rPr lang="en-GB" sz="2000" dirty="0">
                <a:solidFill>
                  <a:schemeClr val="tx2">
                    <a:lumMod val="75000"/>
                  </a:schemeClr>
                </a:solidFill>
              </a:rPr>
              <a:t>(Assistant Professor)</a:t>
            </a:r>
            <a:endParaRPr lang="en-IN" sz="2000" dirty="0">
              <a:solidFill>
                <a:schemeClr val="tx2">
                  <a:lumMod val="75000"/>
                </a:schemeClr>
              </a:solidFill>
            </a:endParaRPr>
          </a:p>
        </p:txBody>
      </p:sp>
      <p:sp>
        <p:nvSpPr>
          <p:cNvPr id="17" name="TextBox 16">
            <a:extLst>
              <a:ext uri="{FF2B5EF4-FFF2-40B4-BE49-F238E27FC236}">
                <a16:creationId xmlns:a16="http://schemas.microsoft.com/office/drawing/2014/main" xmlns="" id="{D7788246-C626-4D6B-A547-DAD875A423B9}"/>
              </a:ext>
            </a:extLst>
          </p:cNvPr>
          <p:cNvSpPr txBox="1"/>
          <p:nvPr/>
        </p:nvSpPr>
        <p:spPr>
          <a:xfrm>
            <a:off x="1969048" y="4761849"/>
            <a:ext cx="3573599" cy="707886"/>
          </a:xfrm>
          <a:prstGeom prst="rect">
            <a:avLst/>
          </a:prstGeom>
          <a:noFill/>
        </p:spPr>
        <p:txBody>
          <a:bodyPr wrap="square" rtlCol="0">
            <a:spAutoFit/>
          </a:bodyPr>
          <a:lstStyle/>
          <a:p>
            <a:r>
              <a:rPr lang="en-GB" sz="2000" b="1" dirty="0">
                <a:solidFill>
                  <a:schemeClr val="tx2">
                    <a:lumMod val="50000"/>
                  </a:schemeClr>
                </a:solidFill>
              </a:rPr>
              <a:t>Mrs. K Renugadevi M.E</a:t>
            </a:r>
          </a:p>
          <a:p>
            <a:r>
              <a:rPr lang="en-GB" sz="2000" dirty="0">
                <a:solidFill>
                  <a:schemeClr val="tx2">
                    <a:lumMod val="75000"/>
                  </a:schemeClr>
                </a:solidFill>
              </a:rPr>
              <a:t>(Assistant Professor)</a:t>
            </a:r>
            <a:endParaRPr lang="en-IN" sz="2000" dirty="0">
              <a:solidFill>
                <a:schemeClr val="tx2">
                  <a:lumMod val="75000"/>
                </a:schemeClr>
              </a:solidFill>
            </a:endParaRPr>
          </a:p>
        </p:txBody>
      </p:sp>
      <p:sp>
        <p:nvSpPr>
          <p:cNvPr id="18" name="TextBox 17">
            <a:extLst>
              <a:ext uri="{FF2B5EF4-FFF2-40B4-BE49-F238E27FC236}">
                <a16:creationId xmlns:a16="http://schemas.microsoft.com/office/drawing/2014/main" xmlns="" id="{9F568C48-236D-472C-BF58-98EC17031FBD}"/>
              </a:ext>
            </a:extLst>
          </p:cNvPr>
          <p:cNvSpPr txBox="1"/>
          <p:nvPr/>
        </p:nvSpPr>
        <p:spPr>
          <a:xfrm>
            <a:off x="1975124" y="7765257"/>
            <a:ext cx="3573599" cy="707886"/>
          </a:xfrm>
          <a:prstGeom prst="rect">
            <a:avLst/>
          </a:prstGeom>
          <a:noFill/>
        </p:spPr>
        <p:txBody>
          <a:bodyPr wrap="square" rtlCol="0">
            <a:spAutoFit/>
          </a:bodyPr>
          <a:lstStyle/>
          <a:p>
            <a:r>
              <a:rPr lang="en-GB" sz="2000" b="1" dirty="0">
                <a:solidFill>
                  <a:schemeClr val="tx2">
                    <a:lumMod val="50000"/>
                  </a:schemeClr>
                </a:solidFill>
              </a:rPr>
              <a:t>Mrs. G R Anushakumar M.E</a:t>
            </a:r>
          </a:p>
          <a:p>
            <a:r>
              <a:rPr lang="en-GB" sz="2000" dirty="0">
                <a:solidFill>
                  <a:schemeClr val="tx2">
                    <a:lumMod val="75000"/>
                  </a:schemeClr>
                </a:solidFill>
              </a:rPr>
              <a:t>(Assistant Professor)</a:t>
            </a:r>
            <a:endParaRPr lang="en-IN" sz="2000" dirty="0">
              <a:solidFill>
                <a:schemeClr val="tx2">
                  <a:lumMod val="75000"/>
                </a:schemeClr>
              </a:solidFill>
            </a:endParaRPr>
          </a:p>
        </p:txBody>
      </p:sp>
      <p:sp>
        <p:nvSpPr>
          <p:cNvPr id="19" name="TextBox 18">
            <a:extLst>
              <a:ext uri="{FF2B5EF4-FFF2-40B4-BE49-F238E27FC236}">
                <a16:creationId xmlns:a16="http://schemas.microsoft.com/office/drawing/2014/main" xmlns="" id="{7342F1AB-DB08-4B97-8C8C-E75425584641}"/>
              </a:ext>
            </a:extLst>
          </p:cNvPr>
          <p:cNvSpPr txBox="1"/>
          <p:nvPr/>
        </p:nvSpPr>
        <p:spPr>
          <a:xfrm>
            <a:off x="906598" y="6263553"/>
            <a:ext cx="3573599" cy="707886"/>
          </a:xfrm>
          <a:prstGeom prst="rect">
            <a:avLst/>
          </a:prstGeom>
          <a:noFill/>
        </p:spPr>
        <p:txBody>
          <a:bodyPr wrap="square" rtlCol="0">
            <a:spAutoFit/>
          </a:bodyPr>
          <a:lstStyle/>
          <a:p>
            <a:r>
              <a:rPr lang="en-GB" sz="2000" b="1" dirty="0">
                <a:solidFill>
                  <a:schemeClr val="tx2">
                    <a:lumMod val="50000"/>
                  </a:schemeClr>
                </a:solidFill>
              </a:rPr>
              <a:t>Mr. A Dinesh M.E</a:t>
            </a:r>
          </a:p>
          <a:p>
            <a:r>
              <a:rPr lang="en-GB" sz="2000" dirty="0">
                <a:solidFill>
                  <a:schemeClr val="tx2">
                    <a:lumMod val="75000"/>
                  </a:schemeClr>
                </a:solidFill>
              </a:rPr>
              <a:t>(Assistant Professor)</a:t>
            </a:r>
            <a:endParaRPr lang="en-IN" sz="2000" dirty="0">
              <a:solidFill>
                <a:schemeClr val="tx2">
                  <a:lumMod val="75000"/>
                </a:schemeClr>
              </a:solidFill>
            </a:endParaRPr>
          </a:p>
        </p:txBody>
      </p:sp>
    </p:spTree>
    <p:extLst>
      <p:ext uri="{BB962C8B-B14F-4D97-AF65-F5344CB8AC3E}">
        <p14:creationId xmlns:p14="http://schemas.microsoft.com/office/powerpoint/2010/main" val="41525234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xmlns="" id="{BC6530FE-A075-46A1-B872-F8B19F322C0E}"/>
              </a:ext>
            </a:extLst>
          </p:cNvPr>
          <p:cNvSpPr/>
          <p:nvPr/>
        </p:nvSpPr>
        <p:spPr>
          <a:xfrm>
            <a:off x="5600700" y="0"/>
            <a:ext cx="1085850" cy="9144000"/>
          </a:xfrm>
          <a:prstGeom prst="parallelogram">
            <a:avLst>
              <a:gd name="adj" fmla="val 64000"/>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Parallelogram 2">
            <a:extLst>
              <a:ext uri="{FF2B5EF4-FFF2-40B4-BE49-F238E27FC236}">
                <a16:creationId xmlns:a16="http://schemas.microsoft.com/office/drawing/2014/main" xmlns="" id="{37E6B0A3-A687-4833-AF50-213C2C5F2A79}"/>
              </a:ext>
            </a:extLst>
          </p:cNvPr>
          <p:cNvSpPr/>
          <p:nvPr/>
        </p:nvSpPr>
        <p:spPr>
          <a:xfrm>
            <a:off x="5772150" y="0"/>
            <a:ext cx="1085850" cy="9144000"/>
          </a:xfrm>
          <a:prstGeom prst="parallelogram">
            <a:avLst>
              <a:gd name="adj" fmla="val 64000"/>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xmlns="" id="{6508936D-5870-42CB-8CEF-C06F482F6A57}"/>
              </a:ext>
            </a:extLst>
          </p:cNvPr>
          <p:cNvSpPr txBox="1"/>
          <p:nvPr/>
        </p:nvSpPr>
        <p:spPr>
          <a:xfrm>
            <a:off x="1066800" y="304800"/>
            <a:ext cx="4705350" cy="892552"/>
          </a:xfrm>
          <a:prstGeom prst="rect">
            <a:avLst/>
          </a:prstGeom>
          <a:noFill/>
        </p:spPr>
        <p:txBody>
          <a:bodyPr wrap="square" rtlCol="0">
            <a:spAutoFit/>
          </a:bodyPr>
          <a:lstStyle/>
          <a:p>
            <a:pPr algn="ctr"/>
            <a:r>
              <a:rPr lang="en-GB" sz="2800" b="1" dirty="0">
                <a:solidFill>
                  <a:schemeClr val="tx2">
                    <a:lumMod val="50000"/>
                  </a:schemeClr>
                </a:solidFill>
              </a:rPr>
              <a:t>STAFFS</a:t>
            </a:r>
          </a:p>
          <a:p>
            <a:pPr algn="ctr"/>
            <a:r>
              <a:rPr lang="en-GB" sz="2400" b="1" dirty="0">
                <a:solidFill>
                  <a:schemeClr val="accent1">
                    <a:lumMod val="60000"/>
                    <a:lumOff val="40000"/>
                  </a:schemeClr>
                </a:solidFill>
              </a:rPr>
              <a:t>OF THE DEPARTMENT</a:t>
            </a:r>
          </a:p>
        </p:txBody>
      </p:sp>
      <p:sp>
        <p:nvSpPr>
          <p:cNvPr id="5" name="Oval 4">
            <a:extLst>
              <a:ext uri="{FF2B5EF4-FFF2-40B4-BE49-F238E27FC236}">
                <a16:creationId xmlns:a16="http://schemas.microsoft.com/office/drawing/2014/main" xmlns="" id="{8A71812A-7CDE-4BD6-A94E-1E3A3A73BD43}"/>
              </a:ext>
            </a:extLst>
          </p:cNvPr>
          <p:cNvSpPr/>
          <p:nvPr/>
        </p:nvSpPr>
        <p:spPr>
          <a:xfrm>
            <a:off x="346800" y="1616452"/>
            <a:ext cx="1440000" cy="1440000"/>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xmlns="" id="{ED513EE2-7EFC-4232-987A-507BEA7D4026}"/>
              </a:ext>
            </a:extLst>
          </p:cNvPr>
          <p:cNvSpPr/>
          <p:nvPr/>
        </p:nvSpPr>
        <p:spPr>
          <a:xfrm>
            <a:off x="4164602" y="2942152"/>
            <a:ext cx="1440000" cy="144000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xmlns="" id="{342DFB33-3B20-4E16-9AEF-6518907A218D}"/>
              </a:ext>
            </a:extLst>
          </p:cNvPr>
          <p:cNvSpPr/>
          <p:nvPr/>
        </p:nvSpPr>
        <p:spPr>
          <a:xfrm>
            <a:off x="346800" y="4382152"/>
            <a:ext cx="1440000" cy="1440000"/>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Oval 11">
            <a:extLst>
              <a:ext uri="{FF2B5EF4-FFF2-40B4-BE49-F238E27FC236}">
                <a16:creationId xmlns:a16="http://schemas.microsoft.com/office/drawing/2014/main" xmlns="" id="{7A9998A9-D1D4-427E-BE2B-4F8FAF7C3699}"/>
              </a:ext>
            </a:extLst>
          </p:cNvPr>
          <p:cNvSpPr/>
          <p:nvPr/>
        </p:nvSpPr>
        <p:spPr>
          <a:xfrm>
            <a:off x="4195352" y="5822152"/>
            <a:ext cx="1440000" cy="1440000"/>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Oval 12">
            <a:extLst>
              <a:ext uri="{FF2B5EF4-FFF2-40B4-BE49-F238E27FC236}">
                <a16:creationId xmlns:a16="http://schemas.microsoft.com/office/drawing/2014/main" xmlns="" id="{D91934F7-F412-4393-BC7A-E968EC0FAD51}"/>
              </a:ext>
            </a:extLst>
          </p:cNvPr>
          <p:cNvSpPr/>
          <p:nvPr/>
        </p:nvSpPr>
        <p:spPr>
          <a:xfrm>
            <a:off x="346800" y="7399200"/>
            <a:ext cx="1440000" cy="1440000"/>
          </a:xfrm>
          <a:prstGeom prst="ellipse">
            <a:avLst/>
          </a:prstGeom>
          <a:blipFill dpi="0" rotWithShape="1">
            <a:blip r:embed="rId6">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xmlns="" id="{FF138062-8B3D-4ED3-807A-69140C6A1738}"/>
              </a:ext>
            </a:extLst>
          </p:cNvPr>
          <p:cNvSpPr txBox="1"/>
          <p:nvPr/>
        </p:nvSpPr>
        <p:spPr>
          <a:xfrm>
            <a:off x="1969498" y="1929676"/>
            <a:ext cx="3573599" cy="707886"/>
          </a:xfrm>
          <a:prstGeom prst="rect">
            <a:avLst/>
          </a:prstGeom>
          <a:noFill/>
        </p:spPr>
        <p:txBody>
          <a:bodyPr wrap="square" rtlCol="0">
            <a:spAutoFit/>
          </a:bodyPr>
          <a:lstStyle/>
          <a:p>
            <a:r>
              <a:rPr lang="en-GB" sz="2000" b="1" dirty="0">
                <a:solidFill>
                  <a:schemeClr val="tx2">
                    <a:lumMod val="50000"/>
                  </a:schemeClr>
                </a:solidFill>
              </a:rPr>
              <a:t>Mr. S </a:t>
            </a:r>
            <a:r>
              <a:rPr lang="en-GB" sz="2000" b="1" dirty="0" smtClean="0">
                <a:solidFill>
                  <a:schemeClr val="tx2">
                    <a:lumMod val="50000"/>
                  </a:schemeClr>
                </a:solidFill>
              </a:rPr>
              <a:t>KULOTHUNGAN  </a:t>
            </a:r>
            <a:r>
              <a:rPr lang="en-GB" sz="2000" b="1" dirty="0">
                <a:solidFill>
                  <a:schemeClr val="tx2">
                    <a:lumMod val="50000"/>
                  </a:schemeClr>
                </a:solidFill>
              </a:rPr>
              <a:t>M.Tech</a:t>
            </a:r>
          </a:p>
          <a:p>
            <a:r>
              <a:rPr lang="en-GB" sz="2000" dirty="0">
                <a:solidFill>
                  <a:schemeClr val="tx2">
                    <a:lumMod val="75000"/>
                  </a:schemeClr>
                </a:solidFill>
              </a:rPr>
              <a:t>(Assistant Professor)</a:t>
            </a:r>
            <a:endParaRPr lang="en-IN" sz="2000" dirty="0">
              <a:solidFill>
                <a:schemeClr val="tx2">
                  <a:lumMod val="75000"/>
                </a:schemeClr>
              </a:solidFill>
            </a:endParaRPr>
          </a:p>
        </p:txBody>
      </p:sp>
      <p:sp>
        <p:nvSpPr>
          <p:cNvPr id="14" name="TextBox 13">
            <a:extLst>
              <a:ext uri="{FF2B5EF4-FFF2-40B4-BE49-F238E27FC236}">
                <a16:creationId xmlns:a16="http://schemas.microsoft.com/office/drawing/2014/main" xmlns="" id="{18C09F7F-9783-40AF-B520-17CC1CD270A8}"/>
              </a:ext>
            </a:extLst>
          </p:cNvPr>
          <p:cNvSpPr txBox="1"/>
          <p:nvPr/>
        </p:nvSpPr>
        <p:spPr>
          <a:xfrm>
            <a:off x="838200" y="3289490"/>
            <a:ext cx="3573599" cy="707886"/>
          </a:xfrm>
          <a:prstGeom prst="rect">
            <a:avLst/>
          </a:prstGeom>
          <a:noFill/>
        </p:spPr>
        <p:txBody>
          <a:bodyPr wrap="square" rtlCol="0">
            <a:spAutoFit/>
          </a:bodyPr>
          <a:lstStyle/>
          <a:p>
            <a:r>
              <a:rPr lang="en-GB" sz="2000" b="1" dirty="0">
                <a:solidFill>
                  <a:schemeClr val="tx2">
                    <a:lumMod val="50000"/>
                  </a:schemeClr>
                </a:solidFill>
              </a:rPr>
              <a:t>Dr. S Mohan M.E.</a:t>
            </a:r>
          </a:p>
          <a:p>
            <a:r>
              <a:rPr lang="en-GB" sz="2000" dirty="0">
                <a:solidFill>
                  <a:schemeClr val="tx2">
                    <a:lumMod val="75000"/>
                  </a:schemeClr>
                </a:solidFill>
              </a:rPr>
              <a:t>(Assistant Professor)</a:t>
            </a:r>
            <a:endParaRPr lang="en-IN" sz="2000" dirty="0">
              <a:solidFill>
                <a:schemeClr val="tx2">
                  <a:lumMod val="75000"/>
                </a:schemeClr>
              </a:solidFill>
            </a:endParaRPr>
          </a:p>
        </p:txBody>
      </p:sp>
      <p:sp>
        <p:nvSpPr>
          <p:cNvPr id="15" name="TextBox 14">
            <a:extLst>
              <a:ext uri="{FF2B5EF4-FFF2-40B4-BE49-F238E27FC236}">
                <a16:creationId xmlns:a16="http://schemas.microsoft.com/office/drawing/2014/main" xmlns="" id="{6740EACE-6120-42F0-B463-933141153729}"/>
              </a:ext>
            </a:extLst>
          </p:cNvPr>
          <p:cNvSpPr txBox="1"/>
          <p:nvPr/>
        </p:nvSpPr>
        <p:spPr>
          <a:xfrm>
            <a:off x="1969498" y="4729490"/>
            <a:ext cx="4207874" cy="707886"/>
          </a:xfrm>
          <a:prstGeom prst="rect">
            <a:avLst/>
          </a:prstGeom>
          <a:noFill/>
        </p:spPr>
        <p:txBody>
          <a:bodyPr wrap="square" rtlCol="0">
            <a:spAutoFit/>
          </a:bodyPr>
          <a:lstStyle/>
          <a:p>
            <a:r>
              <a:rPr lang="en-GB" sz="2000" b="1" dirty="0">
                <a:solidFill>
                  <a:schemeClr val="tx2">
                    <a:lumMod val="50000"/>
                  </a:schemeClr>
                </a:solidFill>
              </a:rPr>
              <a:t>Dr. M Selvakumar M.E.,MBA.</a:t>
            </a:r>
          </a:p>
          <a:p>
            <a:r>
              <a:rPr lang="en-GB" sz="2000" dirty="0">
                <a:solidFill>
                  <a:schemeClr val="tx2">
                    <a:lumMod val="75000"/>
                  </a:schemeClr>
                </a:solidFill>
              </a:rPr>
              <a:t>(Assistant Professor)</a:t>
            </a:r>
            <a:endParaRPr lang="en-IN" sz="2000" dirty="0">
              <a:solidFill>
                <a:schemeClr val="tx2">
                  <a:lumMod val="75000"/>
                </a:schemeClr>
              </a:solidFill>
            </a:endParaRPr>
          </a:p>
        </p:txBody>
      </p:sp>
      <p:sp>
        <p:nvSpPr>
          <p:cNvPr id="16" name="TextBox 15">
            <a:extLst>
              <a:ext uri="{FF2B5EF4-FFF2-40B4-BE49-F238E27FC236}">
                <a16:creationId xmlns:a16="http://schemas.microsoft.com/office/drawing/2014/main" xmlns="" id="{4A46593B-9871-44A2-A8C3-6892359E6024}"/>
              </a:ext>
            </a:extLst>
          </p:cNvPr>
          <p:cNvSpPr txBox="1"/>
          <p:nvPr/>
        </p:nvSpPr>
        <p:spPr>
          <a:xfrm>
            <a:off x="822825" y="6233991"/>
            <a:ext cx="3573599" cy="707886"/>
          </a:xfrm>
          <a:prstGeom prst="rect">
            <a:avLst/>
          </a:prstGeom>
          <a:noFill/>
        </p:spPr>
        <p:txBody>
          <a:bodyPr wrap="square" rtlCol="0">
            <a:spAutoFit/>
          </a:bodyPr>
          <a:lstStyle/>
          <a:p>
            <a:r>
              <a:rPr lang="en-GB" sz="2000" b="1" dirty="0">
                <a:solidFill>
                  <a:schemeClr val="tx2">
                    <a:lumMod val="50000"/>
                  </a:schemeClr>
                </a:solidFill>
              </a:rPr>
              <a:t>Dr. A Ashokan M.E.,Ph.D.</a:t>
            </a:r>
          </a:p>
          <a:p>
            <a:r>
              <a:rPr lang="en-GB" sz="2000" dirty="0">
                <a:solidFill>
                  <a:schemeClr val="tx2">
                    <a:lumMod val="75000"/>
                  </a:schemeClr>
                </a:solidFill>
              </a:rPr>
              <a:t>(Assistant Professor)</a:t>
            </a:r>
            <a:endParaRPr lang="en-IN" sz="2000" dirty="0">
              <a:solidFill>
                <a:schemeClr val="tx2">
                  <a:lumMod val="75000"/>
                </a:schemeClr>
              </a:solidFill>
            </a:endParaRPr>
          </a:p>
        </p:txBody>
      </p:sp>
      <p:sp>
        <p:nvSpPr>
          <p:cNvPr id="17" name="TextBox 16">
            <a:extLst>
              <a:ext uri="{FF2B5EF4-FFF2-40B4-BE49-F238E27FC236}">
                <a16:creationId xmlns:a16="http://schemas.microsoft.com/office/drawing/2014/main" xmlns="" id="{E4C0E814-13E8-4FA3-B1C9-50E206CC0581}"/>
              </a:ext>
            </a:extLst>
          </p:cNvPr>
          <p:cNvSpPr txBox="1"/>
          <p:nvPr/>
        </p:nvSpPr>
        <p:spPr>
          <a:xfrm>
            <a:off x="1994174" y="7765257"/>
            <a:ext cx="3573599" cy="707886"/>
          </a:xfrm>
          <a:prstGeom prst="rect">
            <a:avLst/>
          </a:prstGeom>
          <a:noFill/>
        </p:spPr>
        <p:txBody>
          <a:bodyPr wrap="square" rtlCol="0">
            <a:spAutoFit/>
          </a:bodyPr>
          <a:lstStyle/>
          <a:p>
            <a:r>
              <a:rPr lang="en-GB" sz="2000" b="1" dirty="0">
                <a:solidFill>
                  <a:schemeClr val="tx2">
                    <a:lumMod val="50000"/>
                  </a:schemeClr>
                </a:solidFill>
              </a:rPr>
              <a:t>Mr. D </a:t>
            </a:r>
            <a:r>
              <a:rPr lang="en-GB" sz="2000" b="1" dirty="0" err="1">
                <a:solidFill>
                  <a:schemeClr val="tx2">
                    <a:lumMod val="50000"/>
                  </a:schemeClr>
                </a:solidFill>
              </a:rPr>
              <a:t>Balakumar</a:t>
            </a:r>
            <a:r>
              <a:rPr lang="en-GB" sz="2000" b="1" dirty="0">
                <a:solidFill>
                  <a:schemeClr val="tx2">
                    <a:lumMod val="50000"/>
                  </a:schemeClr>
                </a:solidFill>
              </a:rPr>
              <a:t> M.E</a:t>
            </a:r>
          </a:p>
          <a:p>
            <a:r>
              <a:rPr lang="en-GB" sz="2000" dirty="0">
                <a:solidFill>
                  <a:schemeClr val="tx2">
                    <a:lumMod val="75000"/>
                  </a:schemeClr>
                </a:solidFill>
              </a:rPr>
              <a:t>(Assistant Professor)</a:t>
            </a:r>
            <a:endParaRPr lang="en-IN" sz="2000" dirty="0">
              <a:solidFill>
                <a:schemeClr val="tx2">
                  <a:lumMod val="75000"/>
                </a:schemeClr>
              </a:solidFill>
            </a:endParaRPr>
          </a:p>
        </p:txBody>
      </p:sp>
    </p:spTree>
    <p:extLst>
      <p:ext uri="{BB962C8B-B14F-4D97-AF65-F5344CB8AC3E}">
        <p14:creationId xmlns:p14="http://schemas.microsoft.com/office/powerpoint/2010/main" val="7979964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xmlns="" id="{19D8AE7A-CA5A-44AF-8F27-1B9955A891CE}"/>
              </a:ext>
            </a:extLst>
          </p:cNvPr>
          <p:cNvSpPr/>
          <p:nvPr/>
        </p:nvSpPr>
        <p:spPr>
          <a:xfrm>
            <a:off x="0" y="-19050"/>
            <a:ext cx="6858000" cy="9144000"/>
          </a:xfrm>
          <a:prstGeom prst="rtTriangl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Graphic 8" descr="Woman">
            <a:extLst>
              <a:ext uri="{FF2B5EF4-FFF2-40B4-BE49-F238E27FC236}">
                <a16:creationId xmlns:a16="http://schemas.microsoft.com/office/drawing/2014/main" xmlns="" id="{DF1A04D4-946D-4165-8DF2-B55E6D72A7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867150" y="723900"/>
            <a:ext cx="3638550" cy="3638550"/>
          </a:xfrm>
          <a:prstGeom prst="rect">
            <a:avLst/>
          </a:prstGeom>
        </p:spPr>
      </p:pic>
      <p:pic>
        <p:nvPicPr>
          <p:cNvPr id="11" name="Graphic 10" descr="Man">
            <a:extLst>
              <a:ext uri="{FF2B5EF4-FFF2-40B4-BE49-F238E27FC236}">
                <a16:creationId xmlns:a16="http://schemas.microsoft.com/office/drawing/2014/main" xmlns="" id="{4AD8912A-46A4-469F-AA22-782183F0C4A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428625" y="4867275"/>
            <a:ext cx="3638550" cy="3638550"/>
          </a:xfrm>
          <a:prstGeom prst="rect">
            <a:avLst/>
          </a:prstGeom>
        </p:spPr>
      </p:pic>
      <p:pic>
        <p:nvPicPr>
          <p:cNvPr id="12" name="Graphic 11" descr="Man">
            <a:extLst>
              <a:ext uri="{FF2B5EF4-FFF2-40B4-BE49-F238E27FC236}">
                <a16:creationId xmlns:a16="http://schemas.microsoft.com/office/drawing/2014/main" xmlns="" id="{30971D12-EA70-4D30-8E5A-E73C8AED170B}"/>
              </a:ext>
            </a:extLst>
          </p:cNvPr>
          <p:cNvPicPr>
            <a:picLocks noChangeAspect="1"/>
          </p:cNvPicPr>
          <p:nvPr/>
        </p:nvPicPr>
        <p:blipFill rotWithShape="1">
          <a:blip r:embed="rId6">
            <a:lum bright="-3000"/>
            <a:extLst>
              <a:ext uri="{28A0092B-C50C-407E-A947-70E740481C1C}">
                <a14:useLocalDpi xmlns:a14="http://schemas.microsoft.com/office/drawing/2010/main" val="0"/>
              </a:ext>
              <a:ext uri="{96DAC541-7B7A-43D3-8B79-37D633B846F1}">
                <asvg:svgBlip xmlns:asvg="http://schemas.microsoft.com/office/drawing/2016/SVG/main" xmlns="" r:embed="rId7"/>
              </a:ext>
            </a:extLst>
          </a:blip>
          <a:srcRect t="38536" b="-38611"/>
          <a:stretch/>
        </p:blipFill>
        <p:spPr>
          <a:xfrm>
            <a:off x="-428625" y="6289350"/>
            <a:ext cx="3638550" cy="3638550"/>
          </a:xfrm>
          <a:prstGeom prst="rect">
            <a:avLst/>
          </a:prstGeom>
        </p:spPr>
      </p:pic>
      <p:pic>
        <p:nvPicPr>
          <p:cNvPr id="13" name="Graphic 12" descr="Woman">
            <a:extLst>
              <a:ext uri="{FF2B5EF4-FFF2-40B4-BE49-F238E27FC236}">
                <a16:creationId xmlns:a16="http://schemas.microsoft.com/office/drawing/2014/main" xmlns="" id="{C5298DEF-59DF-497D-A96C-F65B2447FDB1}"/>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xmlns="" r:embed="rId9"/>
              </a:ext>
            </a:extLst>
          </a:blip>
          <a:srcRect t="54805" b="-54805"/>
          <a:stretch/>
        </p:blipFill>
        <p:spPr>
          <a:xfrm>
            <a:off x="3867150" y="2718900"/>
            <a:ext cx="3638550" cy="3638550"/>
          </a:xfrm>
          <a:prstGeom prst="rect">
            <a:avLst/>
          </a:prstGeom>
        </p:spPr>
      </p:pic>
      <p:cxnSp>
        <p:nvCxnSpPr>
          <p:cNvPr id="17" name="Straight Arrow Connector 16">
            <a:extLst>
              <a:ext uri="{FF2B5EF4-FFF2-40B4-BE49-F238E27FC236}">
                <a16:creationId xmlns:a16="http://schemas.microsoft.com/office/drawing/2014/main" xmlns="" id="{8F832A61-3149-49AC-9235-28E21F554496}"/>
              </a:ext>
            </a:extLst>
          </p:cNvPr>
          <p:cNvCxnSpPr>
            <a:cxnSpLocks/>
          </p:cNvCxnSpPr>
          <p:nvPr/>
        </p:nvCxnSpPr>
        <p:spPr>
          <a:xfrm>
            <a:off x="4267200" y="2484111"/>
            <a:ext cx="781050" cy="504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xmlns="" id="{2D287F40-9663-42A2-8D6C-DE3BB0584A54}"/>
              </a:ext>
            </a:extLst>
          </p:cNvPr>
          <p:cNvCxnSpPr>
            <a:cxnSpLocks/>
          </p:cNvCxnSpPr>
          <p:nvPr/>
        </p:nvCxnSpPr>
        <p:spPr>
          <a:xfrm>
            <a:off x="4267200" y="2957979"/>
            <a:ext cx="781050" cy="504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CD809B76-1D02-41E0-ACF7-0D71C3BF2E69}"/>
              </a:ext>
            </a:extLst>
          </p:cNvPr>
          <p:cNvCxnSpPr>
            <a:cxnSpLocks/>
          </p:cNvCxnSpPr>
          <p:nvPr/>
        </p:nvCxnSpPr>
        <p:spPr>
          <a:xfrm>
            <a:off x="4267200" y="3388986"/>
            <a:ext cx="781050" cy="5048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xmlns="" id="{4A8316D2-6B1B-41F5-8EAD-318CE93DFA80}"/>
              </a:ext>
            </a:extLst>
          </p:cNvPr>
          <p:cNvSpPr txBox="1"/>
          <p:nvPr/>
        </p:nvSpPr>
        <p:spPr>
          <a:xfrm>
            <a:off x="2924175" y="3223725"/>
            <a:ext cx="1638300" cy="369332"/>
          </a:xfrm>
          <a:prstGeom prst="rect">
            <a:avLst/>
          </a:prstGeom>
          <a:noFill/>
        </p:spPr>
        <p:txBody>
          <a:bodyPr wrap="square" rtlCol="0">
            <a:spAutoFit/>
          </a:bodyPr>
          <a:lstStyle/>
          <a:p>
            <a:r>
              <a:rPr lang="en-GB" b="1" dirty="0"/>
              <a:t>4</a:t>
            </a:r>
            <a:r>
              <a:rPr lang="en-GB" b="1" baseline="30000" dirty="0"/>
              <a:t>th</a:t>
            </a:r>
            <a:r>
              <a:rPr lang="en-GB" b="1" dirty="0"/>
              <a:t> year : 35</a:t>
            </a:r>
            <a:endParaRPr lang="en-IN" b="1" dirty="0"/>
          </a:p>
        </p:txBody>
      </p:sp>
      <p:sp>
        <p:nvSpPr>
          <p:cNvPr id="22" name="TextBox 21">
            <a:extLst>
              <a:ext uri="{FF2B5EF4-FFF2-40B4-BE49-F238E27FC236}">
                <a16:creationId xmlns:a16="http://schemas.microsoft.com/office/drawing/2014/main" xmlns="" id="{56D0C87F-C638-4EA8-AD83-8AD201106B44}"/>
              </a:ext>
            </a:extLst>
          </p:cNvPr>
          <p:cNvSpPr txBox="1"/>
          <p:nvPr/>
        </p:nvSpPr>
        <p:spPr>
          <a:xfrm>
            <a:off x="2924175" y="2804270"/>
            <a:ext cx="1638300" cy="369332"/>
          </a:xfrm>
          <a:prstGeom prst="rect">
            <a:avLst/>
          </a:prstGeom>
          <a:noFill/>
        </p:spPr>
        <p:txBody>
          <a:bodyPr wrap="square" rtlCol="0">
            <a:spAutoFit/>
          </a:bodyPr>
          <a:lstStyle/>
          <a:p>
            <a:r>
              <a:rPr lang="en-GB" b="1" dirty="0"/>
              <a:t>3</a:t>
            </a:r>
            <a:r>
              <a:rPr lang="en-GB" b="1" baseline="30000" dirty="0"/>
              <a:t>rd</a:t>
            </a:r>
            <a:r>
              <a:rPr lang="en-GB" b="1" dirty="0"/>
              <a:t> year : 26</a:t>
            </a:r>
            <a:endParaRPr lang="en-IN" b="1" dirty="0"/>
          </a:p>
        </p:txBody>
      </p:sp>
      <p:sp>
        <p:nvSpPr>
          <p:cNvPr id="23" name="TextBox 22">
            <a:extLst>
              <a:ext uri="{FF2B5EF4-FFF2-40B4-BE49-F238E27FC236}">
                <a16:creationId xmlns:a16="http://schemas.microsoft.com/office/drawing/2014/main" xmlns="" id="{3959FF1F-DA9F-4022-B422-EB649ED6691B}"/>
              </a:ext>
            </a:extLst>
          </p:cNvPr>
          <p:cNvSpPr txBox="1"/>
          <p:nvPr/>
        </p:nvSpPr>
        <p:spPr>
          <a:xfrm>
            <a:off x="2924175" y="2384815"/>
            <a:ext cx="1638300" cy="369332"/>
          </a:xfrm>
          <a:prstGeom prst="rect">
            <a:avLst/>
          </a:prstGeom>
          <a:noFill/>
        </p:spPr>
        <p:txBody>
          <a:bodyPr wrap="square" rtlCol="0">
            <a:spAutoFit/>
          </a:bodyPr>
          <a:lstStyle/>
          <a:p>
            <a:r>
              <a:rPr lang="en-GB" b="1" dirty="0"/>
              <a:t>2</a:t>
            </a:r>
            <a:r>
              <a:rPr lang="en-GB" b="1" baseline="30000" dirty="0"/>
              <a:t>nd</a:t>
            </a:r>
            <a:r>
              <a:rPr lang="en-GB" b="1" dirty="0"/>
              <a:t> year : 18</a:t>
            </a:r>
            <a:endParaRPr lang="en-IN" b="1" dirty="0"/>
          </a:p>
        </p:txBody>
      </p:sp>
      <p:sp>
        <p:nvSpPr>
          <p:cNvPr id="24" name="TextBox 23">
            <a:extLst>
              <a:ext uri="{FF2B5EF4-FFF2-40B4-BE49-F238E27FC236}">
                <a16:creationId xmlns:a16="http://schemas.microsoft.com/office/drawing/2014/main" xmlns="" id="{02BF84DD-E5D7-4ACF-9E9B-94D257968AF4}"/>
              </a:ext>
            </a:extLst>
          </p:cNvPr>
          <p:cNvSpPr txBox="1"/>
          <p:nvPr/>
        </p:nvSpPr>
        <p:spPr>
          <a:xfrm>
            <a:off x="2562225" y="6523203"/>
            <a:ext cx="1638300" cy="369332"/>
          </a:xfrm>
          <a:prstGeom prst="rect">
            <a:avLst/>
          </a:prstGeom>
          <a:noFill/>
        </p:spPr>
        <p:txBody>
          <a:bodyPr wrap="square" rtlCol="0">
            <a:spAutoFit/>
          </a:bodyPr>
          <a:lstStyle/>
          <a:p>
            <a:r>
              <a:rPr lang="en-GB" b="1" dirty="0">
                <a:solidFill>
                  <a:schemeClr val="bg1"/>
                </a:solidFill>
              </a:rPr>
              <a:t>2</a:t>
            </a:r>
            <a:r>
              <a:rPr lang="en-GB" b="1" baseline="30000" dirty="0">
                <a:solidFill>
                  <a:schemeClr val="bg1"/>
                </a:solidFill>
              </a:rPr>
              <a:t>nd</a:t>
            </a:r>
            <a:r>
              <a:rPr lang="en-GB" b="1" dirty="0">
                <a:solidFill>
                  <a:schemeClr val="bg1"/>
                </a:solidFill>
              </a:rPr>
              <a:t> year : 44</a:t>
            </a:r>
            <a:endParaRPr lang="en-IN" b="1" dirty="0">
              <a:solidFill>
                <a:schemeClr val="bg1"/>
              </a:solidFill>
            </a:endParaRPr>
          </a:p>
        </p:txBody>
      </p:sp>
      <p:sp>
        <p:nvSpPr>
          <p:cNvPr id="25" name="TextBox 24">
            <a:extLst>
              <a:ext uri="{FF2B5EF4-FFF2-40B4-BE49-F238E27FC236}">
                <a16:creationId xmlns:a16="http://schemas.microsoft.com/office/drawing/2014/main" xmlns="" id="{8CEE5128-BEA9-4AE8-A004-65086E1AFE9A}"/>
              </a:ext>
            </a:extLst>
          </p:cNvPr>
          <p:cNvSpPr txBox="1"/>
          <p:nvPr/>
        </p:nvSpPr>
        <p:spPr>
          <a:xfrm>
            <a:off x="2562225" y="6990868"/>
            <a:ext cx="1638300" cy="369332"/>
          </a:xfrm>
          <a:prstGeom prst="rect">
            <a:avLst/>
          </a:prstGeom>
          <a:noFill/>
        </p:spPr>
        <p:txBody>
          <a:bodyPr wrap="square" rtlCol="0">
            <a:spAutoFit/>
          </a:bodyPr>
          <a:lstStyle/>
          <a:p>
            <a:r>
              <a:rPr lang="en-GB" b="1" dirty="0">
                <a:solidFill>
                  <a:schemeClr val="bg1"/>
                </a:solidFill>
              </a:rPr>
              <a:t>3</a:t>
            </a:r>
            <a:r>
              <a:rPr lang="en-GB" b="1" baseline="30000" dirty="0">
                <a:solidFill>
                  <a:schemeClr val="bg1"/>
                </a:solidFill>
              </a:rPr>
              <a:t>rd</a:t>
            </a:r>
            <a:r>
              <a:rPr lang="en-GB" b="1" dirty="0">
                <a:solidFill>
                  <a:schemeClr val="bg1"/>
                </a:solidFill>
              </a:rPr>
              <a:t> year : 26</a:t>
            </a:r>
            <a:endParaRPr lang="en-IN" b="1" dirty="0">
              <a:solidFill>
                <a:schemeClr val="bg1"/>
              </a:solidFill>
            </a:endParaRPr>
          </a:p>
        </p:txBody>
      </p:sp>
      <p:sp>
        <p:nvSpPr>
          <p:cNvPr id="26" name="TextBox 25">
            <a:extLst>
              <a:ext uri="{FF2B5EF4-FFF2-40B4-BE49-F238E27FC236}">
                <a16:creationId xmlns:a16="http://schemas.microsoft.com/office/drawing/2014/main" xmlns="" id="{140293FF-054B-4CFA-895F-0CF2232A8B45}"/>
              </a:ext>
            </a:extLst>
          </p:cNvPr>
          <p:cNvSpPr txBox="1"/>
          <p:nvPr/>
        </p:nvSpPr>
        <p:spPr>
          <a:xfrm>
            <a:off x="2562225" y="7497713"/>
            <a:ext cx="1638300" cy="369332"/>
          </a:xfrm>
          <a:prstGeom prst="rect">
            <a:avLst/>
          </a:prstGeom>
          <a:noFill/>
        </p:spPr>
        <p:txBody>
          <a:bodyPr wrap="square" rtlCol="0">
            <a:spAutoFit/>
          </a:bodyPr>
          <a:lstStyle/>
          <a:p>
            <a:r>
              <a:rPr lang="en-GB" b="1" dirty="0">
                <a:solidFill>
                  <a:schemeClr val="bg1"/>
                </a:solidFill>
              </a:rPr>
              <a:t>4</a:t>
            </a:r>
            <a:r>
              <a:rPr lang="en-GB" b="1" baseline="30000" dirty="0">
                <a:solidFill>
                  <a:schemeClr val="bg1"/>
                </a:solidFill>
              </a:rPr>
              <a:t>th</a:t>
            </a:r>
            <a:r>
              <a:rPr lang="en-GB" b="1" dirty="0">
                <a:solidFill>
                  <a:schemeClr val="bg1"/>
                </a:solidFill>
              </a:rPr>
              <a:t> year : 25</a:t>
            </a:r>
            <a:endParaRPr lang="en-IN" b="1" dirty="0">
              <a:solidFill>
                <a:schemeClr val="bg1"/>
              </a:solidFill>
            </a:endParaRPr>
          </a:p>
        </p:txBody>
      </p:sp>
      <p:cxnSp>
        <p:nvCxnSpPr>
          <p:cNvPr id="28" name="Straight Arrow Connector 27">
            <a:extLst>
              <a:ext uri="{FF2B5EF4-FFF2-40B4-BE49-F238E27FC236}">
                <a16:creationId xmlns:a16="http://schemas.microsoft.com/office/drawing/2014/main" xmlns="" id="{D847C547-9369-492A-98A8-26A66EC4FA35}"/>
              </a:ext>
            </a:extLst>
          </p:cNvPr>
          <p:cNvCxnSpPr>
            <a:cxnSpLocks/>
          </p:cNvCxnSpPr>
          <p:nvPr/>
        </p:nvCxnSpPr>
        <p:spPr>
          <a:xfrm rot="5400000">
            <a:off x="2038350" y="6830754"/>
            <a:ext cx="523875" cy="4676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xmlns="" id="{5E3D2CC3-E882-4B16-9E1D-EE1BA275BE20}"/>
              </a:ext>
            </a:extLst>
          </p:cNvPr>
          <p:cNvCxnSpPr>
            <a:cxnSpLocks/>
          </p:cNvCxnSpPr>
          <p:nvPr/>
        </p:nvCxnSpPr>
        <p:spPr>
          <a:xfrm rot="5400000">
            <a:off x="2038350" y="7310631"/>
            <a:ext cx="523875" cy="4676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xmlns="" id="{6C4A77CE-7A51-49D7-B97C-C1D4CDABA4EA}"/>
              </a:ext>
            </a:extLst>
          </p:cNvPr>
          <p:cNvCxnSpPr>
            <a:cxnSpLocks/>
          </p:cNvCxnSpPr>
          <p:nvPr/>
        </p:nvCxnSpPr>
        <p:spPr>
          <a:xfrm rot="5400000">
            <a:off x="2038350" y="7790508"/>
            <a:ext cx="523875" cy="46766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xmlns="" id="{BC4AC8A8-3CCE-4102-9784-B289C07FB0DD}"/>
              </a:ext>
            </a:extLst>
          </p:cNvPr>
          <p:cNvSpPr txBox="1"/>
          <p:nvPr/>
        </p:nvSpPr>
        <p:spPr>
          <a:xfrm>
            <a:off x="5386388" y="2773312"/>
            <a:ext cx="604837" cy="369332"/>
          </a:xfrm>
          <a:prstGeom prst="rect">
            <a:avLst/>
          </a:prstGeom>
          <a:noFill/>
        </p:spPr>
        <p:txBody>
          <a:bodyPr wrap="square" rtlCol="0">
            <a:spAutoFit/>
          </a:bodyPr>
          <a:lstStyle/>
          <a:p>
            <a:r>
              <a:rPr lang="en-GB" dirty="0">
                <a:solidFill>
                  <a:schemeClr val="bg1"/>
                </a:solidFill>
              </a:rPr>
              <a:t>45%</a:t>
            </a:r>
            <a:endParaRPr lang="en-IN" dirty="0">
              <a:solidFill>
                <a:schemeClr val="bg1"/>
              </a:solidFill>
            </a:endParaRPr>
          </a:p>
        </p:txBody>
      </p:sp>
      <p:sp>
        <p:nvSpPr>
          <p:cNvPr id="32" name="TextBox 31">
            <a:extLst>
              <a:ext uri="{FF2B5EF4-FFF2-40B4-BE49-F238E27FC236}">
                <a16:creationId xmlns:a16="http://schemas.microsoft.com/office/drawing/2014/main" xmlns="" id="{60118BC3-0B20-4853-8F1E-C478C106CBC8}"/>
              </a:ext>
            </a:extLst>
          </p:cNvPr>
          <p:cNvSpPr txBox="1"/>
          <p:nvPr/>
        </p:nvSpPr>
        <p:spPr>
          <a:xfrm>
            <a:off x="1152525" y="6541311"/>
            <a:ext cx="619125" cy="369332"/>
          </a:xfrm>
          <a:prstGeom prst="rect">
            <a:avLst/>
          </a:prstGeom>
          <a:noFill/>
        </p:spPr>
        <p:txBody>
          <a:bodyPr wrap="square" rtlCol="0">
            <a:spAutoFit/>
          </a:bodyPr>
          <a:lstStyle/>
          <a:p>
            <a:r>
              <a:rPr lang="en-GB" dirty="0">
                <a:solidFill>
                  <a:schemeClr val="bg1"/>
                </a:solidFill>
              </a:rPr>
              <a:t>55%</a:t>
            </a:r>
            <a:endParaRPr lang="en-IN" dirty="0">
              <a:solidFill>
                <a:schemeClr val="bg1"/>
              </a:solidFill>
            </a:endParaRPr>
          </a:p>
        </p:txBody>
      </p:sp>
      <p:sp>
        <p:nvSpPr>
          <p:cNvPr id="34" name="Rectangle: Rounded Corners 33">
            <a:extLst>
              <a:ext uri="{FF2B5EF4-FFF2-40B4-BE49-F238E27FC236}">
                <a16:creationId xmlns:a16="http://schemas.microsoft.com/office/drawing/2014/main" xmlns="" id="{1545F2B3-E797-4D14-970B-6FC752F1A908}"/>
              </a:ext>
            </a:extLst>
          </p:cNvPr>
          <p:cNvSpPr/>
          <p:nvPr/>
        </p:nvSpPr>
        <p:spPr>
          <a:xfrm>
            <a:off x="4267200" y="4960723"/>
            <a:ext cx="2390775" cy="686515"/>
          </a:xfrm>
          <a:prstGeom prst="roundRect">
            <a:avLst>
              <a:gd name="adj" fmla="val 50000"/>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bg1"/>
                </a:solidFill>
              </a:rPr>
              <a:t>GIRLS</a:t>
            </a:r>
            <a:endParaRPr lang="en-IN" b="1" dirty="0">
              <a:solidFill>
                <a:schemeClr val="bg1"/>
              </a:solidFill>
            </a:endParaRPr>
          </a:p>
        </p:txBody>
      </p:sp>
      <p:sp>
        <p:nvSpPr>
          <p:cNvPr id="35" name="Rectangle: Rounded Corners 34">
            <a:extLst>
              <a:ext uri="{FF2B5EF4-FFF2-40B4-BE49-F238E27FC236}">
                <a16:creationId xmlns:a16="http://schemas.microsoft.com/office/drawing/2014/main" xmlns="" id="{82F401A5-5AF4-4117-99FF-D6FA248EFFF5}"/>
              </a:ext>
            </a:extLst>
          </p:cNvPr>
          <p:cNvSpPr/>
          <p:nvPr/>
        </p:nvSpPr>
        <p:spPr>
          <a:xfrm>
            <a:off x="202406" y="3887976"/>
            <a:ext cx="2390775" cy="686515"/>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b="1" dirty="0">
                <a:solidFill>
                  <a:schemeClr val="tx2">
                    <a:lumMod val="75000"/>
                  </a:schemeClr>
                </a:solidFill>
              </a:rPr>
              <a:t>BOYS</a:t>
            </a:r>
            <a:endParaRPr lang="en-IN" sz="3200" b="1" dirty="0">
              <a:solidFill>
                <a:schemeClr val="tx2">
                  <a:lumMod val="75000"/>
                </a:schemeClr>
              </a:solidFill>
            </a:endParaRPr>
          </a:p>
        </p:txBody>
      </p:sp>
      <p:sp>
        <p:nvSpPr>
          <p:cNvPr id="36" name="Parallelogram 35">
            <a:extLst>
              <a:ext uri="{FF2B5EF4-FFF2-40B4-BE49-F238E27FC236}">
                <a16:creationId xmlns:a16="http://schemas.microsoft.com/office/drawing/2014/main" xmlns="" id="{17014937-2917-4FE0-8668-0B3D0D98F724}"/>
              </a:ext>
            </a:extLst>
          </p:cNvPr>
          <p:cNvSpPr/>
          <p:nvPr/>
        </p:nvSpPr>
        <p:spPr>
          <a:xfrm>
            <a:off x="1145381" y="157655"/>
            <a:ext cx="4471988" cy="426033"/>
          </a:xfrm>
          <a:prstGeom prst="parallelogram">
            <a:avLst>
              <a:gd name="adj" fmla="val 42521"/>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STUDENT STRENGTH</a:t>
            </a:r>
            <a:endParaRPr lang="en-IN" sz="2400" b="1" dirty="0">
              <a:solidFill>
                <a:schemeClr val="tx1"/>
              </a:solidFill>
            </a:endParaRPr>
          </a:p>
        </p:txBody>
      </p:sp>
    </p:spTree>
    <p:extLst>
      <p:ext uri="{BB962C8B-B14F-4D97-AF65-F5344CB8AC3E}">
        <p14:creationId xmlns:p14="http://schemas.microsoft.com/office/powerpoint/2010/main" val="2826162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851C4F7C-E0B8-413B-B22B-ABADC08885E4}"/>
              </a:ext>
            </a:extLst>
          </p:cNvPr>
          <p:cNvSpPr/>
          <p:nvPr/>
        </p:nvSpPr>
        <p:spPr>
          <a:xfrm>
            <a:off x="0" y="0"/>
            <a:ext cx="6858000" cy="9144000"/>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xmlns="" id="{55A4DE08-5843-4FFB-B5D7-5A4D1BEB08BB}"/>
              </a:ext>
            </a:extLst>
          </p:cNvPr>
          <p:cNvSpPr/>
          <p:nvPr/>
        </p:nvSpPr>
        <p:spPr>
          <a:xfrm>
            <a:off x="250293" y="219871"/>
            <a:ext cx="4552950" cy="552450"/>
          </a:xfrm>
          <a:prstGeom prst="roundRect">
            <a:avLst>
              <a:gd name="adj" fmla="val 50000"/>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bg2">
                    <a:lumMod val="10000"/>
                  </a:schemeClr>
                </a:solidFill>
              </a:rPr>
              <a:t>       CURRICULAM</a:t>
            </a:r>
            <a:endParaRPr lang="en-IN" sz="2400" b="1" dirty="0">
              <a:solidFill>
                <a:schemeClr val="bg2">
                  <a:lumMod val="10000"/>
                </a:schemeClr>
              </a:solidFill>
            </a:endParaRPr>
          </a:p>
        </p:txBody>
      </p:sp>
      <p:sp>
        <p:nvSpPr>
          <p:cNvPr id="8" name="Flowchart: Alternate Process 7">
            <a:extLst>
              <a:ext uri="{FF2B5EF4-FFF2-40B4-BE49-F238E27FC236}">
                <a16:creationId xmlns:a16="http://schemas.microsoft.com/office/drawing/2014/main" xmlns="" id="{F4E153CC-6A40-4394-8B3B-4FB4A85B0F4F}"/>
              </a:ext>
            </a:extLst>
          </p:cNvPr>
          <p:cNvSpPr/>
          <p:nvPr/>
        </p:nvSpPr>
        <p:spPr>
          <a:xfrm>
            <a:off x="266700" y="1035212"/>
            <a:ext cx="3091542" cy="1500278"/>
          </a:xfrm>
          <a:prstGeom prst="flowChartAlternateProcess">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b="1" dirty="0">
                <a:solidFill>
                  <a:srgbClr val="002060"/>
                </a:solidFill>
                <a:latin typeface="+mj-lt"/>
              </a:rPr>
              <a:t>COMMUNICATION SYSTEM</a:t>
            </a:r>
          </a:p>
          <a:p>
            <a:r>
              <a:rPr lang="en-IN" sz="2000" b="1" dirty="0">
                <a:solidFill>
                  <a:schemeClr val="tx2">
                    <a:lumMod val="50000"/>
                  </a:schemeClr>
                </a:solidFill>
                <a:latin typeface="Agency FB" pitchFamily="34" charset="0"/>
              </a:rPr>
              <a:t>Analog systems</a:t>
            </a:r>
          </a:p>
          <a:p>
            <a:r>
              <a:rPr lang="en-IN" sz="2000" b="1" dirty="0">
                <a:solidFill>
                  <a:schemeClr val="tx2">
                    <a:lumMod val="50000"/>
                  </a:schemeClr>
                </a:solidFill>
                <a:latin typeface="Agency FB" pitchFamily="34" charset="0"/>
              </a:rPr>
              <a:t>Digital communications</a:t>
            </a:r>
          </a:p>
          <a:p>
            <a:r>
              <a:rPr lang="en-IN" sz="2000" b="1" dirty="0">
                <a:solidFill>
                  <a:schemeClr val="tx2">
                    <a:lumMod val="50000"/>
                  </a:schemeClr>
                </a:solidFill>
                <a:latin typeface="Agency FB" pitchFamily="34" charset="0"/>
              </a:rPr>
              <a:t>Communication networks</a:t>
            </a:r>
          </a:p>
          <a:p>
            <a:r>
              <a:rPr lang="en-IN" sz="2000" b="1" dirty="0">
                <a:solidFill>
                  <a:schemeClr val="tx2">
                    <a:lumMod val="50000"/>
                  </a:schemeClr>
                </a:solidFill>
                <a:latin typeface="Agency FB" pitchFamily="34" charset="0"/>
              </a:rPr>
              <a:t>Wireless networks</a:t>
            </a:r>
          </a:p>
        </p:txBody>
      </p:sp>
      <p:sp>
        <p:nvSpPr>
          <p:cNvPr id="9" name="Flowchart: Alternate Process 8">
            <a:extLst>
              <a:ext uri="{FF2B5EF4-FFF2-40B4-BE49-F238E27FC236}">
                <a16:creationId xmlns:a16="http://schemas.microsoft.com/office/drawing/2014/main" xmlns="" id="{D7840B82-E050-4D1D-9AF0-134572A11248}"/>
              </a:ext>
            </a:extLst>
          </p:cNvPr>
          <p:cNvSpPr/>
          <p:nvPr/>
        </p:nvSpPr>
        <p:spPr>
          <a:xfrm>
            <a:off x="178240" y="4362455"/>
            <a:ext cx="3404706" cy="1655637"/>
          </a:xfrm>
          <a:prstGeom prst="flowChartAlternateProcess">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rgbClr val="002060"/>
                </a:solidFill>
              </a:rPr>
              <a:t>SOFTWARE </a:t>
            </a:r>
          </a:p>
          <a:p>
            <a:r>
              <a:rPr lang="en-IN" b="1" dirty="0">
                <a:solidFill>
                  <a:schemeClr val="tx2">
                    <a:lumMod val="50000"/>
                  </a:schemeClr>
                </a:solidFill>
                <a:latin typeface="Agency FB" pitchFamily="34" charset="0"/>
              </a:rPr>
              <a:t>PSPICE ,MASM,MATLAB,XILINX ISE, IAR EMBEDDED WORKBENCH,</a:t>
            </a:r>
          </a:p>
          <a:p>
            <a:r>
              <a:rPr lang="en-IN" b="1" dirty="0" smtClean="0">
                <a:solidFill>
                  <a:srgbClr val="002060"/>
                </a:solidFill>
                <a:latin typeface="Agency FB" pitchFamily="34" charset="0"/>
              </a:rPr>
              <a:t>LANGUAGE</a:t>
            </a:r>
            <a:r>
              <a:rPr lang="en-IN" b="1" dirty="0" smtClean="0">
                <a:solidFill>
                  <a:schemeClr val="tx2">
                    <a:lumMod val="50000"/>
                  </a:schemeClr>
                </a:solidFill>
                <a:latin typeface="Agency FB" pitchFamily="34" charset="0"/>
              </a:rPr>
              <a:t>-VERILOG,VHDL ,</a:t>
            </a:r>
            <a:r>
              <a:rPr lang="en-IN" b="1" dirty="0">
                <a:solidFill>
                  <a:schemeClr val="tx2">
                    <a:lumMod val="50000"/>
                  </a:schemeClr>
                </a:solidFill>
                <a:latin typeface="Agency FB" pitchFamily="34" charset="0"/>
              </a:rPr>
              <a:t>Embedded C</a:t>
            </a:r>
            <a:endParaRPr lang="en-IN" sz="2000" b="1" dirty="0">
              <a:solidFill>
                <a:srgbClr val="002060"/>
              </a:solidFill>
              <a:latin typeface="Agency FB" pitchFamily="34" charset="0"/>
            </a:endParaRPr>
          </a:p>
        </p:txBody>
      </p:sp>
      <p:pic>
        <p:nvPicPr>
          <p:cNvPr id="14" name="Graphic 13" descr="Classroom">
            <a:extLst>
              <a:ext uri="{FF2B5EF4-FFF2-40B4-BE49-F238E27FC236}">
                <a16:creationId xmlns:a16="http://schemas.microsoft.com/office/drawing/2014/main" xmlns="" id="{D53A6C9F-2D32-47A9-AC10-BCB72CC43D5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466069" y="235622"/>
            <a:ext cx="520948" cy="520948"/>
          </a:xfrm>
          <a:prstGeom prst="rect">
            <a:avLst/>
          </a:prstGeom>
        </p:spPr>
      </p:pic>
      <p:sp>
        <p:nvSpPr>
          <p:cNvPr id="11" name="Teardrop 10">
            <a:extLst>
              <a:ext uri="{FF2B5EF4-FFF2-40B4-BE49-F238E27FC236}">
                <a16:creationId xmlns:a16="http://schemas.microsoft.com/office/drawing/2014/main" xmlns="" id="{D7CCA0CF-DC4F-496E-9F22-73ABDEFD5973}"/>
              </a:ext>
            </a:extLst>
          </p:cNvPr>
          <p:cNvSpPr/>
          <p:nvPr/>
        </p:nvSpPr>
        <p:spPr>
          <a:xfrm rot="19104652" flipH="1">
            <a:off x="4200815" y="975145"/>
            <a:ext cx="1441421" cy="1438402"/>
          </a:xfrm>
          <a:prstGeom prst="teardrop">
            <a:avLst>
              <a:gd name="adj" fmla="val 131578"/>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2" name="Graphic 11" descr="Group brainstorm">
            <a:extLst>
              <a:ext uri="{FF2B5EF4-FFF2-40B4-BE49-F238E27FC236}">
                <a16:creationId xmlns:a16="http://schemas.microsoft.com/office/drawing/2014/main" xmlns="" id="{C74F513A-3292-4A53-A8B9-0965E77316F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4442554" y="1129024"/>
            <a:ext cx="915302" cy="915302"/>
          </a:xfrm>
          <a:prstGeom prst="rect">
            <a:avLst/>
          </a:prstGeom>
        </p:spPr>
      </p:pic>
      <p:sp>
        <p:nvSpPr>
          <p:cNvPr id="22" name="Teardrop 21">
            <a:extLst>
              <a:ext uri="{FF2B5EF4-FFF2-40B4-BE49-F238E27FC236}">
                <a16:creationId xmlns:a16="http://schemas.microsoft.com/office/drawing/2014/main" xmlns="" id="{800F3B87-D2FA-4D9F-863E-B4C78284563F}"/>
              </a:ext>
            </a:extLst>
          </p:cNvPr>
          <p:cNvSpPr/>
          <p:nvPr/>
        </p:nvSpPr>
        <p:spPr>
          <a:xfrm rot="2495348">
            <a:off x="855299" y="2745187"/>
            <a:ext cx="1440000" cy="1440000"/>
          </a:xfrm>
          <a:prstGeom prst="teardrop">
            <a:avLst>
              <a:gd name="adj" fmla="val 131578"/>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Flowchart: Alternate Process 24">
            <a:extLst>
              <a:ext uri="{FF2B5EF4-FFF2-40B4-BE49-F238E27FC236}">
                <a16:creationId xmlns:a16="http://schemas.microsoft.com/office/drawing/2014/main" xmlns="" id="{702833C6-D615-492D-B8BB-8D7F40D73C67}"/>
              </a:ext>
            </a:extLst>
          </p:cNvPr>
          <p:cNvSpPr/>
          <p:nvPr/>
        </p:nvSpPr>
        <p:spPr>
          <a:xfrm>
            <a:off x="3335383" y="2552097"/>
            <a:ext cx="3129643" cy="1685925"/>
          </a:xfrm>
          <a:prstGeom prst="flowChartAlternateProcess">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b="1" dirty="0">
                <a:solidFill>
                  <a:srgbClr val="002060"/>
                </a:solidFill>
              </a:rPr>
              <a:t>PROCESSOR</a:t>
            </a:r>
          </a:p>
          <a:p>
            <a:r>
              <a:rPr lang="en-IN" sz="2000" b="1" dirty="0">
                <a:solidFill>
                  <a:schemeClr val="tx1">
                    <a:lumMod val="95000"/>
                    <a:lumOff val="5000"/>
                  </a:schemeClr>
                </a:solidFill>
                <a:latin typeface="Agency FB" pitchFamily="34" charset="0"/>
              </a:rPr>
              <a:t>ARM7-LPC2148</a:t>
            </a:r>
          </a:p>
          <a:p>
            <a:r>
              <a:rPr lang="en-IN" sz="2000" b="1" dirty="0">
                <a:solidFill>
                  <a:schemeClr val="tx1">
                    <a:lumMod val="95000"/>
                    <a:lumOff val="5000"/>
                  </a:schemeClr>
                </a:solidFill>
                <a:latin typeface="Agency FB" pitchFamily="34" charset="0"/>
              </a:rPr>
              <a:t>8086-8051</a:t>
            </a:r>
          </a:p>
          <a:p>
            <a:r>
              <a:rPr lang="en-IN" sz="2000" b="1" dirty="0">
                <a:solidFill>
                  <a:schemeClr val="tx1">
                    <a:lumMod val="95000"/>
                    <a:lumOff val="5000"/>
                  </a:schemeClr>
                </a:solidFill>
                <a:latin typeface="Agency FB" pitchFamily="34" charset="0"/>
              </a:rPr>
              <a:t>DSP-TMS320541X</a:t>
            </a:r>
          </a:p>
          <a:p>
            <a:r>
              <a:rPr lang="en-IN" sz="2000" b="1" dirty="0">
                <a:solidFill>
                  <a:schemeClr val="tx1">
                    <a:lumMod val="95000"/>
                    <a:lumOff val="5000"/>
                  </a:schemeClr>
                </a:solidFill>
                <a:latin typeface="Agency FB" pitchFamily="34" charset="0"/>
              </a:rPr>
              <a:t>FPGA,CPLD</a:t>
            </a:r>
          </a:p>
        </p:txBody>
      </p:sp>
      <p:sp>
        <p:nvSpPr>
          <p:cNvPr id="26" name="Teardrop 25">
            <a:extLst>
              <a:ext uri="{FF2B5EF4-FFF2-40B4-BE49-F238E27FC236}">
                <a16:creationId xmlns:a16="http://schemas.microsoft.com/office/drawing/2014/main" xmlns="" id="{B3F03BFA-4EEB-48A6-9B6A-1C0C586DCA1B}"/>
              </a:ext>
            </a:extLst>
          </p:cNvPr>
          <p:cNvSpPr/>
          <p:nvPr/>
        </p:nvSpPr>
        <p:spPr>
          <a:xfrm rot="19104652" flipH="1">
            <a:off x="4350794" y="4526859"/>
            <a:ext cx="1440000" cy="1440000"/>
          </a:xfrm>
          <a:prstGeom prst="teardrop">
            <a:avLst>
              <a:gd name="adj" fmla="val 131578"/>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Flowchart: Alternate Process 27">
            <a:extLst>
              <a:ext uri="{FF2B5EF4-FFF2-40B4-BE49-F238E27FC236}">
                <a16:creationId xmlns:a16="http://schemas.microsoft.com/office/drawing/2014/main" xmlns="" id="{8F685626-E408-456F-9CF9-5CF2DA7BEA71}"/>
              </a:ext>
            </a:extLst>
          </p:cNvPr>
          <p:cNvSpPr/>
          <p:nvPr/>
        </p:nvSpPr>
        <p:spPr>
          <a:xfrm>
            <a:off x="3428999" y="6097142"/>
            <a:ext cx="3129643" cy="1685925"/>
          </a:xfrm>
          <a:prstGeom prst="flowChartAlternateProcess">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rgbClr val="002060"/>
                </a:solidFill>
              </a:rPr>
              <a:t>DESIGN ENGINEERING</a:t>
            </a:r>
          </a:p>
          <a:p>
            <a:r>
              <a:rPr lang="en-IN" b="1" dirty="0">
                <a:solidFill>
                  <a:schemeClr val="tx2">
                    <a:lumMod val="50000"/>
                  </a:schemeClr>
                </a:solidFill>
                <a:latin typeface="Agency FB" pitchFamily="34" charset="0"/>
              </a:rPr>
              <a:t>CIRCUITS DESIGN</a:t>
            </a:r>
          </a:p>
          <a:p>
            <a:r>
              <a:rPr lang="en-IN" b="1" dirty="0">
                <a:solidFill>
                  <a:schemeClr val="tx2">
                    <a:lumMod val="50000"/>
                  </a:schemeClr>
                </a:solidFill>
                <a:latin typeface="Agency FB" pitchFamily="34" charset="0"/>
              </a:rPr>
              <a:t>DIGITAL DESIGN</a:t>
            </a:r>
          </a:p>
          <a:p>
            <a:r>
              <a:rPr lang="en-IN" b="1" dirty="0">
                <a:solidFill>
                  <a:schemeClr val="tx2">
                    <a:lumMod val="50000"/>
                  </a:schemeClr>
                </a:solidFill>
                <a:latin typeface="Agency FB" pitchFamily="34" charset="0"/>
              </a:rPr>
              <a:t>VLSI DESIGN</a:t>
            </a:r>
          </a:p>
          <a:p>
            <a:r>
              <a:rPr lang="en-IN" b="1" dirty="0">
                <a:solidFill>
                  <a:schemeClr val="tx2">
                    <a:lumMod val="50000"/>
                  </a:schemeClr>
                </a:solidFill>
                <a:latin typeface="Agency FB" pitchFamily="34" charset="0"/>
              </a:rPr>
              <a:t>EMBEDDED SYSTEM DESIGN</a:t>
            </a:r>
          </a:p>
        </p:txBody>
      </p:sp>
      <p:pic>
        <p:nvPicPr>
          <p:cNvPr id="24" name="Graphic 23" descr="Programmer">
            <a:extLst>
              <a:ext uri="{FF2B5EF4-FFF2-40B4-BE49-F238E27FC236}">
                <a16:creationId xmlns:a16="http://schemas.microsoft.com/office/drawing/2014/main" xmlns="" id="{45386A42-279E-48C0-B8EC-C7F6755C0E9E}"/>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692020" y="4813813"/>
            <a:ext cx="757547" cy="757547"/>
          </a:xfrm>
          <a:prstGeom prst="rect">
            <a:avLst/>
          </a:prstGeom>
        </p:spPr>
      </p:pic>
      <p:sp>
        <p:nvSpPr>
          <p:cNvPr id="30" name="Teardrop 29">
            <a:extLst>
              <a:ext uri="{FF2B5EF4-FFF2-40B4-BE49-F238E27FC236}">
                <a16:creationId xmlns:a16="http://schemas.microsoft.com/office/drawing/2014/main" xmlns="" id="{B6EE7752-AC35-4F50-B3BC-D328563FE98A}"/>
              </a:ext>
            </a:extLst>
          </p:cNvPr>
          <p:cNvSpPr/>
          <p:nvPr/>
        </p:nvSpPr>
        <p:spPr>
          <a:xfrm rot="2495348">
            <a:off x="994500" y="6187103"/>
            <a:ext cx="1440000" cy="1440000"/>
          </a:xfrm>
          <a:prstGeom prst="teardrop">
            <a:avLst>
              <a:gd name="adj" fmla="val 131578"/>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5" name="Graphic 14" descr="Lightbulb and pencil">
            <a:extLst>
              <a:ext uri="{FF2B5EF4-FFF2-40B4-BE49-F238E27FC236}">
                <a16:creationId xmlns:a16="http://schemas.microsoft.com/office/drawing/2014/main" xmlns="" id="{1753227D-D902-4F97-A89A-C3371F9CC5C2}"/>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1401918" y="6522163"/>
            <a:ext cx="727337" cy="727337"/>
          </a:xfrm>
          <a:prstGeom prst="rect">
            <a:avLst/>
          </a:prstGeom>
        </p:spPr>
      </p:pic>
      <p:pic>
        <p:nvPicPr>
          <p:cNvPr id="32" name="Graphic 31" descr="Professor">
            <a:extLst>
              <a:ext uri="{FF2B5EF4-FFF2-40B4-BE49-F238E27FC236}">
                <a16:creationId xmlns:a16="http://schemas.microsoft.com/office/drawing/2014/main" xmlns="" id="{9E676DD6-35EC-4002-9852-82BC19092024}"/>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1211630" y="3088506"/>
            <a:ext cx="727337" cy="727337"/>
          </a:xfrm>
          <a:prstGeom prst="rect">
            <a:avLst/>
          </a:prstGeom>
        </p:spPr>
      </p:pic>
      <p:sp>
        <p:nvSpPr>
          <p:cNvPr id="33" name="Flowchart: Alternate Process 32">
            <a:extLst>
              <a:ext uri="{FF2B5EF4-FFF2-40B4-BE49-F238E27FC236}">
                <a16:creationId xmlns:a16="http://schemas.microsoft.com/office/drawing/2014/main" xmlns="" id="{694EC877-41E1-4E64-8B20-6AFF761E3EFC}"/>
              </a:ext>
            </a:extLst>
          </p:cNvPr>
          <p:cNvSpPr/>
          <p:nvPr/>
        </p:nvSpPr>
        <p:spPr>
          <a:xfrm>
            <a:off x="299667" y="7796113"/>
            <a:ext cx="3129643" cy="1260127"/>
          </a:xfrm>
          <a:prstGeom prst="flowChartAlternateProcess">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b="1" dirty="0">
                <a:solidFill>
                  <a:srgbClr val="002060"/>
                </a:solidFill>
                <a:latin typeface="+mj-lt"/>
              </a:rPr>
              <a:t>TRANSMISSION LINES</a:t>
            </a:r>
            <a:endParaRPr lang="en-IN" sz="2000" b="1" dirty="0">
              <a:solidFill>
                <a:schemeClr val="tx2">
                  <a:lumMod val="50000"/>
                </a:schemeClr>
              </a:solidFill>
              <a:latin typeface="+mj-lt"/>
            </a:endParaRPr>
          </a:p>
          <a:p>
            <a:r>
              <a:rPr lang="en-IN" sz="2000" b="1" dirty="0">
                <a:solidFill>
                  <a:schemeClr val="tx2">
                    <a:lumMod val="50000"/>
                  </a:schemeClr>
                </a:solidFill>
                <a:latin typeface="Agency FB" pitchFamily="34" charset="0"/>
              </a:rPr>
              <a:t>EMF, Transmission lines and wave guide, antenna and RF microwave</a:t>
            </a:r>
            <a:endParaRPr lang="en-IN" sz="2000" b="1" dirty="0">
              <a:solidFill>
                <a:srgbClr val="002060"/>
              </a:solidFill>
              <a:latin typeface="Agency FB" pitchFamily="34" charset="0"/>
            </a:endParaRPr>
          </a:p>
        </p:txBody>
      </p:sp>
      <p:sp>
        <p:nvSpPr>
          <p:cNvPr id="34" name="Teardrop 33">
            <a:extLst>
              <a:ext uri="{FF2B5EF4-FFF2-40B4-BE49-F238E27FC236}">
                <a16:creationId xmlns:a16="http://schemas.microsoft.com/office/drawing/2014/main" xmlns="" id="{6C5D2FB5-FCBD-4F12-B972-7BCBD82804EB}"/>
              </a:ext>
            </a:extLst>
          </p:cNvPr>
          <p:cNvSpPr/>
          <p:nvPr/>
        </p:nvSpPr>
        <p:spPr>
          <a:xfrm rot="19104652" flipH="1">
            <a:off x="4567848" y="7855633"/>
            <a:ext cx="1260000" cy="1260000"/>
          </a:xfrm>
          <a:prstGeom prst="teardrop">
            <a:avLst>
              <a:gd name="adj" fmla="val 131578"/>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8" name="Graphic 37" descr="Satellite dish">
            <a:extLst>
              <a:ext uri="{FF2B5EF4-FFF2-40B4-BE49-F238E27FC236}">
                <a16:creationId xmlns:a16="http://schemas.microsoft.com/office/drawing/2014/main" xmlns="" id="{C6A6D25E-5E13-42A5-B49B-1E081E6A9C4C}"/>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4843388" y="8087145"/>
            <a:ext cx="708919" cy="708919"/>
          </a:xfrm>
          <a:prstGeom prst="rect">
            <a:avLst/>
          </a:prstGeom>
        </p:spPr>
      </p:pic>
    </p:spTree>
    <p:extLst>
      <p:ext uri="{BB962C8B-B14F-4D97-AF65-F5344CB8AC3E}">
        <p14:creationId xmlns:p14="http://schemas.microsoft.com/office/powerpoint/2010/main" val="18836088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851C4F7C-E0B8-413B-B22B-ABADC08885E4}"/>
              </a:ext>
            </a:extLst>
          </p:cNvPr>
          <p:cNvSpPr/>
          <p:nvPr/>
        </p:nvSpPr>
        <p:spPr>
          <a:xfrm>
            <a:off x="0" y="0"/>
            <a:ext cx="6858000" cy="9144000"/>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xmlns="" id="{55A4DE08-5843-4FFB-B5D7-5A4D1BEB08BB}"/>
              </a:ext>
            </a:extLst>
          </p:cNvPr>
          <p:cNvSpPr/>
          <p:nvPr/>
        </p:nvSpPr>
        <p:spPr>
          <a:xfrm>
            <a:off x="266700" y="285750"/>
            <a:ext cx="4552950" cy="552450"/>
          </a:xfrm>
          <a:prstGeom prst="roundRect">
            <a:avLst>
              <a:gd name="adj" fmla="val 50000"/>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bg2">
                    <a:lumMod val="10000"/>
                  </a:schemeClr>
                </a:solidFill>
              </a:rPr>
              <a:t>          CO-CURICULAR ACTIVITIES</a:t>
            </a:r>
            <a:endParaRPr lang="en-IN" sz="2400" b="1" dirty="0">
              <a:solidFill>
                <a:schemeClr val="bg2">
                  <a:lumMod val="10000"/>
                </a:schemeClr>
              </a:solidFill>
            </a:endParaRPr>
          </a:p>
        </p:txBody>
      </p:sp>
      <p:sp>
        <p:nvSpPr>
          <p:cNvPr id="8" name="Flowchart: Alternate Process 7">
            <a:extLst>
              <a:ext uri="{FF2B5EF4-FFF2-40B4-BE49-F238E27FC236}">
                <a16:creationId xmlns:a16="http://schemas.microsoft.com/office/drawing/2014/main" xmlns="" id="{F4E153CC-6A40-4394-8B3B-4FB4A85B0F4F}"/>
              </a:ext>
            </a:extLst>
          </p:cNvPr>
          <p:cNvSpPr/>
          <p:nvPr/>
        </p:nvSpPr>
        <p:spPr>
          <a:xfrm>
            <a:off x="1639312" y="1371600"/>
            <a:ext cx="4950675" cy="1828800"/>
          </a:xfrm>
          <a:prstGeom prst="flowChartAlternateProcess">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chemeClr val="tx1">
                    <a:lumMod val="95000"/>
                    <a:lumOff val="5000"/>
                  </a:schemeClr>
                </a:solidFill>
                <a:latin typeface="Agency FB" pitchFamily="34" charset="0"/>
                <a:cs typeface="Arial" panose="020B0604020202020204" pitchFamily="34" charset="0"/>
              </a:rPr>
              <a:t>The Department of Electronics and communication Engineering has been organized one day workshop in Arduino on 20</a:t>
            </a:r>
            <a:r>
              <a:rPr lang="en-US" sz="2000" b="1" baseline="30000" dirty="0">
                <a:solidFill>
                  <a:schemeClr val="tx1">
                    <a:lumMod val="95000"/>
                    <a:lumOff val="5000"/>
                  </a:schemeClr>
                </a:solidFill>
                <a:latin typeface="Agency FB" pitchFamily="34" charset="0"/>
                <a:cs typeface="Arial" panose="020B0604020202020204" pitchFamily="34" charset="0"/>
              </a:rPr>
              <a:t>th</a:t>
            </a:r>
            <a:r>
              <a:rPr lang="en-US" sz="2000" b="1" dirty="0">
                <a:solidFill>
                  <a:schemeClr val="tx1">
                    <a:lumMod val="95000"/>
                    <a:lumOff val="5000"/>
                  </a:schemeClr>
                </a:solidFill>
                <a:latin typeface="Agency FB" pitchFamily="34" charset="0"/>
                <a:cs typeface="Arial" panose="020B0604020202020204" pitchFamily="34" charset="0"/>
              </a:rPr>
              <a:t> September 2016</a:t>
            </a:r>
            <a:endParaRPr lang="en-IN" sz="2400" b="1" dirty="0">
              <a:solidFill>
                <a:schemeClr val="tx1">
                  <a:lumMod val="95000"/>
                  <a:lumOff val="5000"/>
                </a:schemeClr>
              </a:solidFill>
              <a:latin typeface="Agency FB" pitchFamily="34" charset="0"/>
              <a:cs typeface="Arial" panose="020B0604020202020204" pitchFamily="34" charset="0"/>
            </a:endParaRPr>
          </a:p>
        </p:txBody>
      </p:sp>
      <p:sp>
        <p:nvSpPr>
          <p:cNvPr id="9" name="Flowchart: Alternate Process 8">
            <a:extLst>
              <a:ext uri="{FF2B5EF4-FFF2-40B4-BE49-F238E27FC236}">
                <a16:creationId xmlns:a16="http://schemas.microsoft.com/office/drawing/2014/main" xmlns="" id="{D7840B82-E050-4D1D-9AF0-134572A11248}"/>
              </a:ext>
            </a:extLst>
          </p:cNvPr>
          <p:cNvSpPr/>
          <p:nvPr/>
        </p:nvSpPr>
        <p:spPr>
          <a:xfrm>
            <a:off x="266700" y="3768302"/>
            <a:ext cx="5114925" cy="2213397"/>
          </a:xfrm>
          <a:prstGeom prst="flowChartAlternateProcess">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chemeClr val="tx1">
                    <a:lumMod val="95000"/>
                    <a:lumOff val="5000"/>
                  </a:schemeClr>
                </a:solidFill>
                <a:latin typeface="Agency FB" pitchFamily="34" charset="0"/>
              </a:rPr>
              <a:t>The Department of Electronics and communication Engineering has been conducted the workshop on “Computer Assembing, Troubleshooting and Networks” from 20</a:t>
            </a:r>
            <a:r>
              <a:rPr lang="en-US" sz="2000" b="1" baseline="30000" dirty="0">
                <a:solidFill>
                  <a:schemeClr val="tx1">
                    <a:lumMod val="95000"/>
                    <a:lumOff val="5000"/>
                  </a:schemeClr>
                </a:solidFill>
                <a:latin typeface="Agency FB" pitchFamily="34" charset="0"/>
              </a:rPr>
              <a:t>th</a:t>
            </a:r>
            <a:r>
              <a:rPr lang="en-US" sz="2000" b="1" dirty="0">
                <a:solidFill>
                  <a:schemeClr val="tx1">
                    <a:lumMod val="95000"/>
                    <a:lumOff val="5000"/>
                  </a:schemeClr>
                </a:solidFill>
                <a:latin typeface="Agency FB" pitchFamily="34" charset="0"/>
              </a:rPr>
              <a:t> September  to 23</a:t>
            </a:r>
            <a:r>
              <a:rPr lang="en-US" sz="2000" b="1" baseline="30000" dirty="0">
                <a:solidFill>
                  <a:schemeClr val="tx1">
                    <a:lumMod val="95000"/>
                    <a:lumOff val="5000"/>
                  </a:schemeClr>
                </a:solidFill>
                <a:latin typeface="Agency FB" pitchFamily="34" charset="0"/>
              </a:rPr>
              <a:t>rd</a:t>
            </a:r>
            <a:r>
              <a:rPr lang="en-US" sz="2000" b="1" dirty="0">
                <a:solidFill>
                  <a:schemeClr val="tx1">
                    <a:lumMod val="95000"/>
                    <a:lumOff val="5000"/>
                  </a:schemeClr>
                </a:solidFill>
                <a:latin typeface="Agency FB" pitchFamily="34" charset="0"/>
              </a:rPr>
              <a:t> September and from 29</a:t>
            </a:r>
            <a:r>
              <a:rPr lang="en-US" sz="2000" b="1" baseline="30000" dirty="0">
                <a:solidFill>
                  <a:schemeClr val="tx1">
                    <a:lumMod val="95000"/>
                    <a:lumOff val="5000"/>
                  </a:schemeClr>
                </a:solidFill>
                <a:latin typeface="Agency FB" pitchFamily="34" charset="0"/>
              </a:rPr>
              <a:t>th</a:t>
            </a:r>
            <a:r>
              <a:rPr lang="en-US" sz="2000" b="1" dirty="0">
                <a:solidFill>
                  <a:schemeClr val="tx1">
                    <a:lumMod val="95000"/>
                    <a:lumOff val="5000"/>
                  </a:schemeClr>
                </a:solidFill>
                <a:latin typeface="Agency FB" pitchFamily="34" charset="0"/>
              </a:rPr>
              <a:t> September to 02 October 2018 and completed Successfully</a:t>
            </a:r>
            <a:endParaRPr lang="en-IN" sz="2000" b="1" dirty="0">
              <a:solidFill>
                <a:schemeClr val="tx1">
                  <a:lumMod val="95000"/>
                  <a:lumOff val="5000"/>
                </a:schemeClr>
              </a:solidFill>
              <a:latin typeface="Agency FB" pitchFamily="34" charset="0"/>
            </a:endParaRPr>
          </a:p>
        </p:txBody>
      </p:sp>
      <p:sp>
        <p:nvSpPr>
          <p:cNvPr id="10" name="Flowchart: Alternate Process 9">
            <a:extLst>
              <a:ext uri="{FF2B5EF4-FFF2-40B4-BE49-F238E27FC236}">
                <a16:creationId xmlns:a16="http://schemas.microsoft.com/office/drawing/2014/main" xmlns="" id="{6F288C02-BC0C-426F-8D43-0F73634FDAB2}"/>
              </a:ext>
            </a:extLst>
          </p:cNvPr>
          <p:cNvSpPr/>
          <p:nvPr/>
        </p:nvSpPr>
        <p:spPr>
          <a:xfrm>
            <a:off x="1639312" y="6343649"/>
            <a:ext cx="5114925" cy="2438400"/>
          </a:xfrm>
          <a:prstGeom prst="flowChartAlternateProcess">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2000" b="1" dirty="0">
                <a:solidFill>
                  <a:schemeClr val="tx1">
                    <a:lumMod val="95000"/>
                    <a:lumOff val="5000"/>
                  </a:schemeClr>
                </a:solidFill>
                <a:latin typeface="Agency FB" pitchFamily="34" charset="0"/>
              </a:rPr>
              <a:t>ICT Academy of Tamil Nadu along with the support of IT Department Government of Tamil Nadu &amp; TNSDC had initiated the training for 2014-2018 batch final year ECE and CSE Students in “Soft Skills&amp; IT/ITES Sector” and it was conducted for 150 </a:t>
            </a:r>
            <a:r>
              <a:rPr lang="en-US" sz="2000" b="1" dirty="0" err="1">
                <a:solidFill>
                  <a:schemeClr val="tx1">
                    <a:lumMod val="95000"/>
                    <a:lumOff val="5000"/>
                  </a:schemeClr>
                </a:solidFill>
                <a:latin typeface="Agency FB" pitchFamily="34" charset="0"/>
              </a:rPr>
              <a:t>hrs</a:t>
            </a:r>
            <a:r>
              <a:rPr lang="en-US" sz="2000" b="1" dirty="0">
                <a:solidFill>
                  <a:schemeClr val="tx1">
                    <a:lumMod val="95000"/>
                    <a:lumOff val="5000"/>
                  </a:schemeClr>
                </a:solidFill>
                <a:latin typeface="Agency FB" pitchFamily="34" charset="0"/>
              </a:rPr>
              <a:t> from 17.08.2017 to 15.09.2017 at our Institution and was successfully completed</a:t>
            </a:r>
            <a:r>
              <a:rPr lang="en-US" sz="2000" dirty="0">
                <a:solidFill>
                  <a:schemeClr val="bg2">
                    <a:lumMod val="25000"/>
                  </a:schemeClr>
                </a:solidFill>
                <a:latin typeface="Agency FB" pitchFamily="34" charset="0"/>
              </a:rPr>
              <a:t>.</a:t>
            </a:r>
          </a:p>
        </p:txBody>
      </p:sp>
      <p:pic>
        <p:nvPicPr>
          <p:cNvPr id="12" name="Graphic 11" descr="Group brainstorm">
            <a:extLst>
              <a:ext uri="{FF2B5EF4-FFF2-40B4-BE49-F238E27FC236}">
                <a16:creationId xmlns:a16="http://schemas.microsoft.com/office/drawing/2014/main" xmlns="" id="{C74F513A-3292-4A53-A8B9-0965E77316F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400050" y="1828800"/>
            <a:ext cx="914400" cy="914400"/>
          </a:xfrm>
          <a:prstGeom prst="rect">
            <a:avLst/>
          </a:prstGeom>
        </p:spPr>
      </p:pic>
      <p:pic>
        <p:nvPicPr>
          <p:cNvPr id="14" name="Graphic 13" descr="Classroom">
            <a:extLst>
              <a:ext uri="{FF2B5EF4-FFF2-40B4-BE49-F238E27FC236}">
                <a16:creationId xmlns:a16="http://schemas.microsoft.com/office/drawing/2014/main" xmlns="" id="{D53A6C9F-2D32-47A9-AC10-BCB72CC43D53}"/>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482476" y="301501"/>
            <a:ext cx="520948" cy="520948"/>
          </a:xfrm>
          <a:prstGeom prst="rect">
            <a:avLst/>
          </a:prstGeom>
        </p:spPr>
      </p:pic>
      <p:pic>
        <p:nvPicPr>
          <p:cNvPr id="18" name="Graphic 17" descr="Head with gears">
            <a:extLst>
              <a:ext uri="{FF2B5EF4-FFF2-40B4-BE49-F238E27FC236}">
                <a16:creationId xmlns:a16="http://schemas.microsoft.com/office/drawing/2014/main" xmlns="" id="{F71313CC-ACB8-4F04-9FD6-51AF034E47EB}"/>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5810250" y="4572000"/>
            <a:ext cx="914400" cy="914400"/>
          </a:xfrm>
          <a:prstGeom prst="rect">
            <a:avLst/>
          </a:prstGeom>
        </p:spPr>
      </p:pic>
      <p:pic>
        <p:nvPicPr>
          <p:cNvPr id="13" name="Graphic 12" descr="Lightbulb and gear">
            <a:extLst>
              <a:ext uri="{FF2B5EF4-FFF2-40B4-BE49-F238E27FC236}">
                <a16:creationId xmlns:a16="http://schemas.microsoft.com/office/drawing/2014/main" xmlns="" id="{BC1C857E-0318-4133-9613-773E74A82A2E}"/>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416379" y="7105649"/>
            <a:ext cx="914400" cy="914400"/>
          </a:xfrm>
          <a:prstGeom prst="rect">
            <a:avLst/>
          </a:prstGeom>
        </p:spPr>
      </p:pic>
    </p:spTree>
    <p:extLst>
      <p:ext uri="{BB962C8B-B14F-4D97-AF65-F5344CB8AC3E}">
        <p14:creationId xmlns:p14="http://schemas.microsoft.com/office/powerpoint/2010/main" val="9611134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xmlns="" id="{A47CC570-AD94-44AB-B6E9-815212749126}"/>
              </a:ext>
            </a:extLst>
          </p:cNvPr>
          <p:cNvSpPr/>
          <p:nvPr/>
        </p:nvSpPr>
        <p:spPr>
          <a:xfrm>
            <a:off x="361950" y="381000"/>
            <a:ext cx="4210050" cy="419100"/>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bg1">
                    <a:lumMod val="95000"/>
                  </a:schemeClr>
                </a:solidFill>
              </a:rPr>
              <a:t>LABORATORY</a:t>
            </a:r>
          </a:p>
        </p:txBody>
      </p:sp>
      <p:sp>
        <p:nvSpPr>
          <p:cNvPr id="17" name="Flowchart: Data 16">
            <a:extLst>
              <a:ext uri="{FF2B5EF4-FFF2-40B4-BE49-F238E27FC236}">
                <a16:creationId xmlns:a16="http://schemas.microsoft.com/office/drawing/2014/main" xmlns="" id="{7508962E-7862-433F-91A7-4546419E006B}"/>
              </a:ext>
            </a:extLst>
          </p:cNvPr>
          <p:cNvSpPr/>
          <p:nvPr/>
        </p:nvSpPr>
        <p:spPr>
          <a:xfrm>
            <a:off x="361950" y="1779814"/>
            <a:ext cx="2160000" cy="1800000"/>
          </a:xfrm>
          <a:prstGeom prst="flowChartInputOutput">
            <a:avLst/>
          </a:prstGeom>
          <a:blipFill dpi="0" rotWithShape="1">
            <a:blip r:embed="rId2"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9" name="Flowchart: Data 38">
            <a:extLst>
              <a:ext uri="{FF2B5EF4-FFF2-40B4-BE49-F238E27FC236}">
                <a16:creationId xmlns:a16="http://schemas.microsoft.com/office/drawing/2014/main" xmlns="" id="{CC545D98-8BBA-4535-9F1E-8C05A0D10178}"/>
              </a:ext>
            </a:extLst>
          </p:cNvPr>
          <p:cNvSpPr/>
          <p:nvPr/>
        </p:nvSpPr>
        <p:spPr>
          <a:xfrm>
            <a:off x="2349000" y="1779814"/>
            <a:ext cx="2160000" cy="1800000"/>
          </a:xfrm>
          <a:prstGeom prst="flowChartInputOutput">
            <a:avLst/>
          </a:prstGeom>
          <a:blipFill dpi="0" rotWithShape="1">
            <a:blip r:embed="rId3"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0" name="Flowchart: Data 39">
            <a:extLst>
              <a:ext uri="{FF2B5EF4-FFF2-40B4-BE49-F238E27FC236}">
                <a16:creationId xmlns:a16="http://schemas.microsoft.com/office/drawing/2014/main" xmlns="" id="{3D98E3AD-1128-4457-8A5B-2C2A0FD0C6E4}"/>
              </a:ext>
            </a:extLst>
          </p:cNvPr>
          <p:cNvSpPr/>
          <p:nvPr/>
        </p:nvSpPr>
        <p:spPr>
          <a:xfrm>
            <a:off x="4319721" y="1779814"/>
            <a:ext cx="2160000" cy="1800000"/>
          </a:xfrm>
          <a:prstGeom prst="flowChartInputOutput">
            <a:avLst/>
          </a:prstGeom>
          <a:blipFill dpi="0" rotWithShape="1">
            <a:blip r:embed="rId4"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1" name="Flowchart: Data 40">
            <a:extLst>
              <a:ext uri="{FF2B5EF4-FFF2-40B4-BE49-F238E27FC236}">
                <a16:creationId xmlns:a16="http://schemas.microsoft.com/office/drawing/2014/main" xmlns="" id="{164AE94D-C952-4DB6-836C-1AAD7F98BD27}"/>
              </a:ext>
            </a:extLst>
          </p:cNvPr>
          <p:cNvSpPr/>
          <p:nvPr/>
        </p:nvSpPr>
        <p:spPr>
          <a:xfrm>
            <a:off x="1217303" y="3845832"/>
            <a:ext cx="2160000" cy="1800000"/>
          </a:xfrm>
          <a:prstGeom prst="flowChartInputOutput">
            <a:avLst/>
          </a:prstGeom>
          <a:blipFill dpi="0" rotWithShape="1">
            <a:blip r:embed="rId5"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2" name="Flowchart: Data 41">
            <a:extLst>
              <a:ext uri="{FF2B5EF4-FFF2-40B4-BE49-F238E27FC236}">
                <a16:creationId xmlns:a16="http://schemas.microsoft.com/office/drawing/2014/main" xmlns="" id="{57081B04-27C0-4BBE-A922-CFDA8D2C2D38}"/>
              </a:ext>
            </a:extLst>
          </p:cNvPr>
          <p:cNvSpPr/>
          <p:nvPr/>
        </p:nvSpPr>
        <p:spPr>
          <a:xfrm>
            <a:off x="3184491" y="3862161"/>
            <a:ext cx="2160000" cy="1800000"/>
          </a:xfrm>
          <a:prstGeom prst="flowChartInputOutput">
            <a:avLst/>
          </a:prstGeom>
          <a:blipFill dpi="0" rotWithShape="1">
            <a:blip r:embed="rId6"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3" name="Flowchart: Data 42">
            <a:extLst>
              <a:ext uri="{FF2B5EF4-FFF2-40B4-BE49-F238E27FC236}">
                <a16:creationId xmlns:a16="http://schemas.microsoft.com/office/drawing/2014/main" xmlns="" id="{ED327F60-ED77-4BD7-B6B6-8AE787756B62}"/>
              </a:ext>
            </a:extLst>
          </p:cNvPr>
          <p:cNvSpPr/>
          <p:nvPr/>
        </p:nvSpPr>
        <p:spPr>
          <a:xfrm>
            <a:off x="123684" y="5837913"/>
            <a:ext cx="2160000" cy="1800000"/>
          </a:xfrm>
          <a:prstGeom prst="flowChartInputOutput">
            <a:avLst/>
          </a:prstGeom>
          <a:blipFill dpi="0" rotWithShape="1">
            <a:blip r:embed="rId7"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4" name="Flowchart: Data 43">
            <a:extLst>
              <a:ext uri="{FF2B5EF4-FFF2-40B4-BE49-F238E27FC236}">
                <a16:creationId xmlns:a16="http://schemas.microsoft.com/office/drawing/2014/main" xmlns="" id="{0774A2AD-7840-4A62-81ED-9054E610098F}"/>
              </a:ext>
            </a:extLst>
          </p:cNvPr>
          <p:cNvSpPr/>
          <p:nvPr/>
        </p:nvSpPr>
        <p:spPr>
          <a:xfrm>
            <a:off x="2120394" y="5837913"/>
            <a:ext cx="2160000" cy="1800000"/>
          </a:xfrm>
          <a:prstGeom prst="flowChartInputOutput">
            <a:avLst/>
          </a:prstGeom>
          <a:blipFill dpi="0" rotWithShape="1">
            <a:blip r:embed="rId8" cstate="print">
              <a:extLst>
                <a:ext uri="{28A0092B-C50C-407E-A947-70E740481C1C}">
                  <a14:useLocalDpi xmlns:a14="http://schemas.microsoft.com/office/drawing/2010/main" val="0"/>
                </a:ext>
                <a:ext uri="{837473B0-CC2E-450A-ABE3-18F120FF3D39}">
                  <a1611:picAttrSrcUrl xmlns:a1611="http://schemas.microsoft.com/office/drawing/2016/11/main" xmlns="" r:id="rId9"/>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5" name="Flowchart: Data 44">
            <a:extLst>
              <a:ext uri="{FF2B5EF4-FFF2-40B4-BE49-F238E27FC236}">
                <a16:creationId xmlns:a16="http://schemas.microsoft.com/office/drawing/2014/main" xmlns="" id="{30DB5CEE-DA3E-4EA2-8EAA-A1EEF3A6D717}"/>
              </a:ext>
            </a:extLst>
          </p:cNvPr>
          <p:cNvSpPr/>
          <p:nvPr/>
        </p:nvSpPr>
        <p:spPr>
          <a:xfrm>
            <a:off x="4074786" y="5837913"/>
            <a:ext cx="2160000" cy="1800000"/>
          </a:xfrm>
          <a:prstGeom prst="flowChartInputOutput">
            <a:avLst/>
          </a:prstGeom>
          <a:blipFill dpi="0" rotWithShape="1">
            <a:blip r:embed="rId10" cstate="print">
              <a:extLst>
                <a:ext uri="{28A0092B-C50C-407E-A947-70E740481C1C}">
                  <a14:useLocalDpi xmlns:a14="http://schemas.microsoft.com/office/drawing/2010/main" val="0"/>
                </a:ext>
                <a:ext uri="{837473B0-CC2E-450A-ABE3-18F120FF3D39}">
                  <a1611:picAttrSrcUrl xmlns:a1611="http://schemas.microsoft.com/office/drawing/2016/11/main" xmlns="" r:id="rId11"/>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3829023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xmlns="" id="{A47CC570-AD94-44AB-B6E9-815212749126}"/>
              </a:ext>
            </a:extLst>
          </p:cNvPr>
          <p:cNvSpPr/>
          <p:nvPr/>
        </p:nvSpPr>
        <p:spPr>
          <a:xfrm>
            <a:off x="1323975" y="105956"/>
            <a:ext cx="4210050" cy="419100"/>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bg1">
                    <a:lumMod val="95000"/>
                  </a:schemeClr>
                </a:solidFill>
              </a:rPr>
              <a:t>LABORATORY</a:t>
            </a:r>
          </a:p>
        </p:txBody>
      </p:sp>
      <p:sp>
        <p:nvSpPr>
          <p:cNvPr id="3" name="TextBox 2">
            <a:extLst>
              <a:ext uri="{FF2B5EF4-FFF2-40B4-BE49-F238E27FC236}">
                <a16:creationId xmlns:a16="http://schemas.microsoft.com/office/drawing/2014/main" xmlns="" id="{30B6F6BE-58D4-4AC8-BC5B-C41E0E5BA6C8}"/>
              </a:ext>
            </a:extLst>
          </p:cNvPr>
          <p:cNvSpPr txBox="1"/>
          <p:nvPr/>
        </p:nvSpPr>
        <p:spPr>
          <a:xfrm>
            <a:off x="137432" y="638669"/>
            <a:ext cx="4352926" cy="1384995"/>
          </a:xfrm>
          <a:prstGeom prst="rect">
            <a:avLst/>
          </a:prstGeom>
          <a:solidFill>
            <a:schemeClr val="tx2">
              <a:lumMod val="20000"/>
              <a:lumOff val="80000"/>
            </a:schemeClr>
          </a:solidFill>
        </p:spPr>
        <p:txBody>
          <a:bodyPr wrap="square" rtlCol="0">
            <a:spAutoFit/>
          </a:bodyPr>
          <a:lstStyle/>
          <a:p>
            <a:r>
              <a:rPr lang="en-GB" sz="2400" b="1" dirty="0">
                <a:solidFill>
                  <a:srgbClr val="002060"/>
                </a:solidFill>
              </a:rPr>
              <a:t>Electronic Circuits Laboratory</a:t>
            </a:r>
          </a:p>
          <a:p>
            <a:r>
              <a:rPr lang="en-IN" sz="2000" dirty="0">
                <a:solidFill>
                  <a:srgbClr val="002060"/>
                </a:solidFill>
              </a:rPr>
              <a:t>	</a:t>
            </a:r>
            <a:r>
              <a:rPr lang="en-IN" sz="2000" dirty="0">
                <a:solidFill>
                  <a:schemeClr val="tx1">
                    <a:lumMod val="95000"/>
                    <a:lumOff val="5000"/>
                  </a:schemeClr>
                </a:solidFill>
                <a:latin typeface="Agency FB" pitchFamily="34" charset="0"/>
              </a:rPr>
              <a:t>Function generator,CRO,</a:t>
            </a:r>
          </a:p>
          <a:p>
            <a:r>
              <a:rPr lang="en-IN" sz="2000" dirty="0">
                <a:solidFill>
                  <a:schemeClr val="tx1">
                    <a:lumMod val="95000"/>
                    <a:lumOff val="5000"/>
                  </a:schemeClr>
                </a:solidFill>
                <a:latin typeface="Agency FB" pitchFamily="34" charset="0"/>
              </a:rPr>
              <a:t>	Dual Power Supply ,DSO,</a:t>
            </a:r>
          </a:p>
          <a:p>
            <a:r>
              <a:rPr lang="en-IN" sz="2000" dirty="0">
                <a:solidFill>
                  <a:schemeClr val="tx1">
                    <a:lumMod val="95000"/>
                    <a:lumOff val="5000"/>
                  </a:schemeClr>
                </a:solidFill>
                <a:latin typeface="Agency FB" pitchFamily="34" charset="0"/>
              </a:rPr>
              <a:t>	Decade inductance,DRB,DRC</a:t>
            </a:r>
          </a:p>
        </p:txBody>
      </p:sp>
      <p:sp>
        <p:nvSpPr>
          <p:cNvPr id="4" name="TextBox 3">
            <a:extLst>
              <a:ext uri="{FF2B5EF4-FFF2-40B4-BE49-F238E27FC236}">
                <a16:creationId xmlns:a16="http://schemas.microsoft.com/office/drawing/2014/main" xmlns="" id="{493EA9EB-39DE-4455-AD8E-3296763AA9D1}"/>
              </a:ext>
            </a:extLst>
          </p:cNvPr>
          <p:cNvSpPr txBox="1"/>
          <p:nvPr/>
        </p:nvSpPr>
        <p:spPr>
          <a:xfrm>
            <a:off x="1651906" y="2157632"/>
            <a:ext cx="5090433" cy="1384995"/>
          </a:xfrm>
          <a:prstGeom prst="rect">
            <a:avLst/>
          </a:prstGeom>
          <a:solidFill>
            <a:schemeClr val="tx2">
              <a:lumMod val="20000"/>
              <a:lumOff val="80000"/>
            </a:schemeClr>
          </a:solidFill>
        </p:spPr>
        <p:txBody>
          <a:bodyPr wrap="square" rtlCol="0">
            <a:spAutoFit/>
          </a:bodyPr>
          <a:lstStyle/>
          <a:p>
            <a:r>
              <a:rPr lang="en-GB" sz="2400" b="1" dirty="0">
                <a:solidFill>
                  <a:srgbClr val="002060"/>
                </a:solidFill>
              </a:rPr>
              <a:t>Linear Integrated Circuits Laboratory</a:t>
            </a:r>
          </a:p>
          <a:p>
            <a:r>
              <a:rPr lang="en-GB" sz="2000" dirty="0">
                <a:solidFill>
                  <a:srgbClr val="002060"/>
                </a:solidFill>
              </a:rPr>
              <a:t>	</a:t>
            </a:r>
            <a:r>
              <a:rPr lang="en-GB" sz="2000" dirty="0">
                <a:solidFill>
                  <a:schemeClr val="tx1">
                    <a:lumMod val="95000"/>
                    <a:lumOff val="5000"/>
                  </a:schemeClr>
                </a:solidFill>
                <a:latin typeface="Agency FB" pitchFamily="34" charset="0"/>
              </a:rPr>
              <a:t>OP-Amp,Analog IC Trainer kit,</a:t>
            </a:r>
          </a:p>
          <a:p>
            <a:r>
              <a:rPr lang="en-GB" sz="2000" dirty="0">
                <a:solidFill>
                  <a:schemeClr val="tx1">
                    <a:lumMod val="95000"/>
                    <a:lumOff val="5000"/>
                  </a:schemeClr>
                </a:solidFill>
                <a:latin typeface="Agency FB" pitchFamily="34" charset="0"/>
              </a:rPr>
              <a:t>	Digital IC Trainer Kit,</a:t>
            </a:r>
          </a:p>
          <a:p>
            <a:r>
              <a:rPr lang="en-GB" sz="2000" dirty="0">
                <a:solidFill>
                  <a:schemeClr val="tx1">
                    <a:lumMod val="95000"/>
                    <a:lumOff val="5000"/>
                  </a:schemeClr>
                </a:solidFill>
                <a:latin typeface="Agency FB" pitchFamily="34" charset="0"/>
              </a:rPr>
              <a:t>	Multimeter,IC tester,Power supply</a:t>
            </a:r>
            <a:endParaRPr lang="en-IN" sz="2000" dirty="0">
              <a:solidFill>
                <a:schemeClr val="tx1">
                  <a:lumMod val="95000"/>
                  <a:lumOff val="5000"/>
                </a:schemeClr>
              </a:solidFill>
              <a:latin typeface="Agency FB" pitchFamily="34" charset="0"/>
            </a:endParaRPr>
          </a:p>
        </p:txBody>
      </p:sp>
      <p:sp>
        <p:nvSpPr>
          <p:cNvPr id="5" name="TextBox 4">
            <a:extLst>
              <a:ext uri="{FF2B5EF4-FFF2-40B4-BE49-F238E27FC236}">
                <a16:creationId xmlns:a16="http://schemas.microsoft.com/office/drawing/2014/main" xmlns="" id="{1B3E8B4E-F78B-439C-8348-7F8EDCFB9FC4}"/>
              </a:ext>
            </a:extLst>
          </p:cNvPr>
          <p:cNvSpPr txBox="1"/>
          <p:nvPr/>
        </p:nvSpPr>
        <p:spPr>
          <a:xfrm>
            <a:off x="99332" y="3660270"/>
            <a:ext cx="4733925" cy="1384995"/>
          </a:xfrm>
          <a:prstGeom prst="rect">
            <a:avLst/>
          </a:prstGeom>
          <a:solidFill>
            <a:schemeClr val="tx2">
              <a:lumMod val="20000"/>
              <a:lumOff val="80000"/>
            </a:schemeClr>
          </a:solidFill>
        </p:spPr>
        <p:txBody>
          <a:bodyPr wrap="square" rtlCol="0">
            <a:spAutoFit/>
          </a:bodyPr>
          <a:lstStyle/>
          <a:p>
            <a:r>
              <a:rPr lang="en-GB" sz="2400" b="1" dirty="0">
                <a:solidFill>
                  <a:srgbClr val="002060"/>
                </a:solidFill>
              </a:rPr>
              <a:t>Digital Signal Processing Laboratory</a:t>
            </a:r>
          </a:p>
          <a:p>
            <a:r>
              <a:rPr lang="en-GB" sz="2000" dirty="0">
                <a:solidFill>
                  <a:srgbClr val="002060"/>
                </a:solidFill>
              </a:rPr>
              <a:t>	</a:t>
            </a:r>
            <a:r>
              <a:rPr lang="en-GB" sz="2000" dirty="0">
                <a:solidFill>
                  <a:schemeClr val="tx1">
                    <a:lumMod val="95000"/>
                    <a:lumOff val="5000"/>
                  </a:schemeClr>
                </a:solidFill>
                <a:latin typeface="Agency FB" pitchFamily="34" charset="0"/>
              </a:rPr>
              <a:t>TMS320C541X,</a:t>
            </a:r>
          </a:p>
          <a:p>
            <a:r>
              <a:rPr lang="en-GB" sz="2000" dirty="0">
                <a:solidFill>
                  <a:schemeClr val="tx1">
                    <a:lumMod val="95000"/>
                    <a:lumOff val="5000"/>
                  </a:schemeClr>
                </a:solidFill>
                <a:latin typeface="Agency FB" pitchFamily="34" charset="0"/>
              </a:rPr>
              <a:t>	Interfacing device,MATLAB,</a:t>
            </a:r>
          </a:p>
          <a:p>
            <a:r>
              <a:rPr lang="en-GB" sz="2000" dirty="0">
                <a:solidFill>
                  <a:schemeClr val="tx1">
                    <a:lumMod val="95000"/>
                    <a:lumOff val="5000"/>
                  </a:schemeClr>
                </a:solidFill>
                <a:latin typeface="Agency FB" pitchFamily="34" charset="0"/>
              </a:rPr>
              <a:t>	C50 debugger</a:t>
            </a:r>
            <a:endParaRPr lang="en-IN" sz="2000" dirty="0">
              <a:solidFill>
                <a:schemeClr val="tx1">
                  <a:lumMod val="95000"/>
                  <a:lumOff val="5000"/>
                </a:schemeClr>
              </a:solidFill>
              <a:latin typeface="Agency FB" pitchFamily="34" charset="0"/>
            </a:endParaRPr>
          </a:p>
        </p:txBody>
      </p:sp>
      <p:sp>
        <p:nvSpPr>
          <p:cNvPr id="6" name="TextBox 5">
            <a:extLst>
              <a:ext uri="{FF2B5EF4-FFF2-40B4-BE49-F238E27FC236}">
                <a16:creationId xmlns:a16="http://schemas.microsoft.com/office/drawing/2014/main" xmlns="" id="{79EA2FAB-36D6-4F8D-9CF0-46B869B6AFAE}"/>
              </a:ext>
            </a:extLst>
          </p:cNvPr>
          <p:cNvSpPr txBox="1"/>
          <p:nvPr/>
        </p:nvSpPr>
        <p:spPr>
          <a:xfrm>
            <a:off x="111578" y="6734554"/>
            <a:ext cx="4721679" cy="1077218"/>
          </a:xfrm>
          <a:prstGeom prst="rect">
            <a:avLst/>
          </a:prstGeom>
          <a:solidFill>
            <a:schemeClr val="tx2">
              <a:lumMod val="20000"/>
              <a:lumOff val="80000"/>
            </a:schemeClr>
          </a:solidFill>
        </p:spPr>
        <p:txBody>
          <a:bodyPr wrap="square" rtlCol="0">
            <a:spAutoFit/>
          </a:bodyPr>
          <a:lstStyle/>
          <a:p>
            <a:r>
              <a:rPr lang="en-GB" sz="2400" b="1" dirty="0">
                <a:solidFill>
                  <a:srgbClr val="002060"/>
                </a:solidFill>
              </a:rPr>
              <a:t>VLSI Design Laboratory</a:t>
            </a:r>
          </a:p>
          <a:p>
            <a:r>
              <a:rPr lang="en-GB" sz="2000" dirty="0">
                <a:solidFill>
                  <a:schemeClr val="accent1">
                    <a:lumMod val="75000"/>
                  </a:schemeClr>
                </a:solidFill>
              </a:rPr>
              <a:t>	</a:t>
            </a:r>
            <a:r>
              <a:rPr lang="en-GB" sz="2000" dirty="0">
                <a:solidFill>
                  <a:schemeClr val="tx1">
                    <a:lumMod val="95000"/>
                    <a:lumOff val="5000"/>
                  </a:schemeClr>
                </a:solidFill>
                <a:latin typeface="Agency FB" pitchFamily="34" charset="0"/>
              </a:rPr>
              <a:t>FPGA,Cool Runner,</a:t>
            </a:r>
          </a:p>
          <a:p>
            <a:r>
              <a:rPr lang="en-GB" sz="2000" dirty="0">
                <a:solidFill>
                  <a:schemeClr val="tx1">
                    <a:lumMod val="95000"/>
                    <a:lumOff val="5000"/>
                  </a:schemeClr>
                </a:solidFill>
                <a:latin typeface="Agency FB" pitchFamily="34" charset="0"/>
              </a:rPr>
              <a:t>	Xilinx, VHDL</a:t>
            </a:r>
            <a:endParaRPr lang="en-IN" sz="2000" dirty="0">
              <a:solidFill>
                <a:schemeClr val="tx1">
                  <a:lumMod val="95000"/>
                  <a:lumOff val="5000"/>
                </a:schemeClr>
              </a:solidFill>
              <a:latin typeface="Agency FB" pitchFamily="34" charset="0"/>
            </a:endParaRPr>
          </a:p>
        </p:txBody>
      </p:sp>
      <p:sp>
        <p:nvSpPr>
          <p:cNvPr id="7" name="TextBox 6">
            <a:extLst>
              <a:ext uri="{FF2B5EF4-FFF2-40B4-BE49-F238E27FC236}">
                <a16:creationId xmlns:a16="http://schemas.microsoft.com/office/drawing/2014/main" xmlns="" id="{6D54C0C0-8686-4738-A217-37FD4DCCA44A}"/>
              </a:ext>
            </a:extLst>
          </p:cNvPr>
          <p:cNvSpPr txBox="1"/>
          <p:nvPr/>
        </p:nvSpPr>
        <p:spPr>
          <a:xfrm>
            <a:off x="1830159" y="5170004"/>
            <a:ext cx="4912180" cy="1446550"/>
          </a:xfrm>
          <a:prstGeom prst="rect">
            <a:avLst/>
          </a:prstGeom>
          <a:solidFill>
            <a:schemeClr val="tx2">
              <a:lumMod val="20000"/>
              <a:lumOff val="80000"/>
            </a:schemeClr>
          </a:solidFill>
        </p:spPr>
        <p:txBody>
          <a:bodyPr wrap="square" rtlCol="0">
            <a:spAutoFit/>
          </a:bodyPr>
          <a:lstStyle/>
          <a:p>
            <a:r>
              <a:rPr lang="en-GB" sz="2400" b="1" dirty="0">
                <a:solidFill>
                  <a:srgbClr val="002060"/>
                </a:solidFill>
              </a:rPr>
              <a:t>Microprocessor &amp; Microcontroller Laboratory</a:t>
            </a:r>
            <a:endParaRPr lang="en-IN" sz="2400" b="1" dirty="0">
              <a:solidFill>
                <a:schemeClr val="accent1">
                  <a:lumMod val="75000"/>
                </a:schemeClr>
              </a:solidFill>
            </a:endParaRPr>
          </a:p>
          <a:p>
            <a:r>
              <a:rPr lang="en-GB" sz="2000" b="1" dirty="0">
                <a:solidFill>
                  <a:srgbClr val="002060"/>
                </a:solidFill>
              </a:rPr>
              <a:t>	</a:t>
            </a:r>
            <a:r>
              <a:rPr lang="en-GB" sz="2000" dirty="0">
                <a:solidFill>
                  <a:schemeClr val="tx1">
                    <a:lumMod val="95000"/>
                    <a:lumOff val="5000"/>
                  </a:schemeClr>
                </a:solidFill>
                <a:latin typeface="Agency FB" pitchFamily="34" charset="0"/>
              </a:rPr>
              <a:t>8086 Trainer kit,8051 Trainer kit,</a:t>
            </a:r>
          </a:p>
          <a:p>
            <a:r>
              <a:rPr lang="en-GB" sz="2000" dirty="0">
                <a:solidFill>
                  <a:schemeClr val="tx1">
                    <a:lumMod val="95000"/>
                    <a:lumOff val="5000"/>
                  </a:schemeClr>
                </a:solidFill>
                <a:latin typeface="Agency FB" pitchFamily="34" charset="0"/>
              </a:rPr>
              <a:t>	8085 Trainer kit</a:t>
            </a:r>
          </a:p>
        </p:txBody>
      </p:sp>
      <p:sp>
        <p:nvSpPr>
          <p:cNvPr id="8" name="TextBox 7">
            <a:extLst>
              <a:ext uri="{FF2B5EF4-FFF2-40B4-BE49-F238E27FC236}">
                <a16:creationId xmlns:a16="http://schemas.microsoft.com/office/drawing/2014/main" xmlns="" id="{1041840E-11E3-4930-A6B7-C87604784396}"/>
              </a:ext>
            </a:extLst>
          </p:cNvPr>
          <p:cNvSpPr txBox="1"/>
          <p:nvPr/>
        </p:nvSpPr>
        <p:spPr>
          <a:xfrm>
            <a:off x="1651906" y="7929771"/>
            <a:ext cx="5109482" cy="1077218"/>
          </a:xfrm>
          <a:prstGeom prst="rect">
            <a:avLst/>
          </a:prstGeom>
          <a:solidFill>
            <a:schemeClr val="tx2">
              <a:lumMod val="20000"/>
              <a:lumOff val="80000"/>
            </a:schemeClr>
          </a:solidFill>
        </p:spPr>
        <p:txBody>
          <a:bodyPr wrap="square" rtlCol="0">
            <a:spAutoFit/>
          </a:bodyPr>
          <a:lstStyle/>
          <a:p>
            <a:r>
              <a:rPr lang="en-GB" sz="2400" b="1" dirty="0">
                <a:solidFill>
                  <a:srgbClr val="002060"/>
                </a:solidFill>
              </a:rPr>
              <a:t>Embedded Laboratory</a:t>
            </a:r>
          </a:p>
          <a:p>
            <a:r>
              <a:rPr lang="en-GB" sz="2000" dirty="0">
                <a:solidFill>
                  <a:schemeClr val="accent1">
                    <a:lumMod val="75000"/>
                  </a:schemeClr>
                </a:solidFill>
              </a:rPr>
              <a:t>	</a:t>
            </a:r>
            <a:r>
              <a:rPr lang="en-GB" sz="2000" dirty="0" smtClean="0">
                <a:solidFill>
                  <a:schemeClr val="tx1">
                    <a:lumMod val="95000"/>
                    <a:lumOff val="5000"/>
                  </a:schemeClr>
                </a:solidFill>
                <a:latin typeface="Agency FB" pitchFamily="34" charset="0"/>
              </a:rPr>
              <a:t>CORTEX</a:t>
            </a:r>
            <a:r>
              <a:rPr lang="en-GB" sz="2000" dirty="0">
                <a:solidFill>
                  <a:schemeClr val="tx1">
                    <a:lumMod val="95000"/>
                    <a:lumOff val="5000"/>
                  </a:schemeClr>
                </a:solidFill>
                <a:latin typeface="Agency FB" pitchFamily="34" charset="0"/>
              </a:rPr>
              <a:t>, </a:t>
            </a:r>
            <a:r>
              <a:rPr lang="en-GB" sz="2000" dirty="0" smtClean="0">
                <a:solidFill>
                  <a:schemeClr val="tx1">
                    <a:lumMod val="95000"/>
                    <a:lumOff val="5000"/>
                  </a:schemeClr>
                </a:solidFill>
                <a:latin typeface="Agency FB" pitchFamily="34" charset="0"/>
              </a:rPr>
              <a:t>LPC2148,ARM7</a:t>
            </a:r>
            <a:r>
              <a:rPr lang="en-IN" sz="2000" dirty="0" smtClean="0">
                <a:solidFill>
                  <a:schemeClr val="tx1">
                    <a:lumMod val="95000"/>
                    <a:lumOff val="5000"/>
                  </a:schemeClr>
                </a:solidFill>
                <a:latin typeface="Agency FB" pitchFamily="34" charset="0"/>
              </a:rPr>
              <a:t> </a:t>
            </a:r>
            <a:r>
              <a:rPr lang="en-GB" sz="2000" dirty="0" smtClean="0">
                <a:solidFill>
                  <a:schemeClr val="tx1">
                    <a:lumMod val="95000"/>
                    <a:lumOff val="5000"/>
                  </a:schemeClr>
                </a:solidFill>
                <a:latin typeface="Agency FB" pitchFamily="34" charset="0"/>
              </a:rPr>
              <a:t>WinXTalk, Flash magic </a:t>
            </a:r>
          </a:p>
          <a:p>
            <a:r>
              <a:rPr lang="en-GB" sz="2000" dirty="0">
                <a:solidFill>
                  <a:schemeClr val="tx1">
                    <a:lumMod val="95000"/>
                    <a:lumOff val="5000"/>
                  </a:schemeClr>
                </a:solidFill>
                <a:latin typeface="Agency FB" pitchFamily="34" charset="0"/>
              </a:rPr>
              <a:t> </a:t>
            </a:r>
            <a:r>
              <a:rPr lang="en-GB" sz="2000" dirty="0" smtClean="0">
                <a:solidFill>
                  <a:schemeClr val="tx1">
                    <a:lumMod val="95000"/>
                    <a:lumOff val="5000"/>
                  </a:schemeClr>
                </a:solidFill>
                <a:latin typeface="Agency FB" pitchFamily="34" charset="0"/>
              </a:rPr>
              <a:t>         </a:t>
            </a:r>
            <a:r>
              <a:rPr lang="en-GB" sz="2000" dirty="0" err="1" smtClean="0">
                <a:solidFill>
                  <a:schemeClr val="tx1">
                    <a:lumMod val="95000"/>
                    <a:lumOff val="5000"/>
                  </a:schemeClr>
                </a:solidFill>
                <a:latin typeface="Agency FB" pitchFamily="34" charset="0"/>
              </a:rPr>
              <a:t>Keil</a:t>
            </a:r>
            <a:r>
              <a:rPr lang="en-GB" sz="2000" dirty="0" smtClean="0">
                <a:solidFill>
                  <a:schemeClr val="tx1">
                    <a:lumMod val="95000"/>
                    <a:lumOff val="5000"/>
                  </a:schemeClr>
                </a:solidFill>
                <a:latin typeface="Agency FB" pitchFamily="34" charset="0"/>
              </a:rPr>
              <a:t> software IAR </a:t>
            </a:r>
            <a:r>
              <a:rPr lang="en-GB" sz="2000" dirty="0">
                <a:solidFill>
                  <a:schemeClr val="tx1">
                    <a:lumMod val="95000"/>
                    <a:lumOff val="5000"/>
                  </a:schemeClr>
                </a:solidFill>
                <a:latin typeface="Agency FB" pitchFamily="34" charset="0"/>
              </a:rPr>
              <a:t>Embedded </a:t>
            </a:r>
            <a:r>
              <a:rPr lang="en-GB" sz="2000" dirty="0" smtClean="0">
                <a:solidFill>
                  <a:schemeClr val="tx1">
                    <a:lumMod val="95000"/>
                    <a:lumOff val="5000"/>
                  </a:schemeClr>
                </a:solidFill>
                <a:latin typeface="Agency FB" pitchFamily="34" charset="0"/>
              </a:rPr>
              <a:t>Workbench,</a:t>
            </a:r>
            <a:endParaRPr lang="en-IN" sz="2000" dirty="0">
              <a:solidFill>
                <a:schemeClr val="tx1">
                  <a:lumMod val="95000"/>
                  <a:lumOff val="5000"/>
                </a:schemeClr>
              </a:solidFill>
              <a:latin typeface="Agency FB" pitchFamily="34" charset="0"/>
            </a:endParaRPr>
          </a:p>
        </p:txBody>
      </p:sp>
      <p:pic>
        <p:nvPicPr>
          <p:cNvPr id="10" name="Graphic 9" descr="Processor">
            <a:extLst>
              <a:ext uri="{FF2B5EF4-FFF2-40B4-BE49-F238E27FC236}">
                <a16:creationId xmlns:a16="http://schemas.microsoft.com/office/drawing/2014/main" xmlns="" id="{587E275C-2352-4E8D-849E-520E122EC928}"/>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10242" y="8092589"/>
            <a:ext cx="914400" cy="914400"/>
          </a:xfrm>
          <a:prstGeom prst="rect">
            <a:avLst/>
          </a:prstGeom>
        </p:spPr>
      </p:pic>
      <p:pic>
        <p:nvPicPr>
          <p:cNvPr id="12" name="Graphic 11" descr="Computer">
            <a:extLst>
              <a:ext uri="{FF2B5EF4-FFF2-40B4-BE49-F238E27FC236}">
                <a16:creationId xmlns:a16="http://schemas.microsoft.com/office/drawing/2014/main" xmlns="" id="{2650A7B4-0172-4D23-A575-0F479E1491E4}"/>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610242" y="2422481"/>
            <a:ext cx="914400" cy="914400"/>
          </a:xfrm>
          <a:prstGeom prst="rect">
            <a:avLst/>
          </a:prstGeom>
        </p:spPr>
      </p:pic>
      <p:pic>
        <p:nvPicPr>
          <p:cNvPr id="14" name="Graphic 13" descr="Robot">
            <a:extLst>
              <a:ext uri="{FF2B5EF4-FFF2-40B4-BE49-F238E27FC236}">
                <a16:creationId xmlns:a16="http://schemas.microsoft.com/office/drawing/2014/main" xmlns="" id="{6FEB519D-801F-41A6-970F-84A7CB99C9FA}"/>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610242" y="5444082"/>
            <a:ext cx="914400" cy="914400"/>
          </a:xfrm>
          <a:prstGeom prst="rect">
            <a:avLst/>
          </a:prstGeom>
        </p:spPr>
      </p:pic>
      <p:pic>
        <p:nvPicPr>
          <p:cNvPr id="16" name="Graphic 15" descr="Wireless router">
            <a:extLst>
              <a:ext uri="{FF2B5EF4-FFF2-40B4-BE49-F238E27FC236}">
                <a16:creationId xmlns:a16="http://schemas.microsoft.com/office/drawing/2014/main" xmlns="" id="{1CFAFBC1-AC4F-4DE2-968C-EB37AD71C63F}"/>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xmlns="" r:embed="rId9"/>
              </a:ext>
            </a:extLst>
          </a:blip>
          <a:stretch>
            <a:fillRect/>
          </a:stretch>
        </p:blipFill>
        <p:spPr>
          <a:xfrm>
            <a:off x="5225466" y="6815962"/>
            <a:ext cx="914400" cy="914400"/>
          </a:xfrm>
          <a:prstGeom prst="rect">
            <a:avLst/>
          </a:prstGeom>
        </p:spPr>
      </p:pic>
      <p:pic>
        <p:nvPicPr>
          <p:cNvPr id="18" name="Graphic 17" descr="Server">
            <a:extLst>
              <a:ext uri="{FF2B5EF4-FFF2-40B4-BE49-F238E27FC236}">
                <a16:creationId xmlns:a16="http://schemas.microsoft.com/office/drawing/2014/main" xmlns="" id="{5875EFCC-FF01-417B-B1DD-8742F22DF0A6}"/>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5225466" y="881544"/>
            <a:ext cx="914400" cy="914400"/>
          </a:xfrm>
          <a:prstGeom prst="rect">
            <a:avLst/>
          </a:prstGeom>
        </p:spPr>
      </p:pic>
      <p:pic>
        <p:nvPicPr>
          <p:cNvPr id="20" name="Graphic 19" descr="Cell Tower">
            <a:extLst>
              <a:ext uri="{FF2B5EF4-FFF2-40B4-BE49-F238E27FC236}">
                <a16:creationId xmlns:a16="http://schemas.microsoft.com/office/drawing/2014/main" xmlns="" id="{A747F6DC-7F9A-4AE7-AD3F-59C638E8A7FF}"/>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xmlns="" r:embed="rId13"/>
              </a:ext>
            </a:extLst>
          </a:blip>
          <a:stretch>
            <a:fillRect/>
          </a:stretch>
        </p:blipFill>
        <p:spPr>
          <a:xfrm>
            <a:off x="5225466" y="3856787"/>
            <a:ext cx="914400" cy="914400"/>
          </a:xfrm>
          <a:prstGeom prst="rect">
            <a:avLst/>
          </a:prstGeom>
        </p:spPr>
      </p:pic>
    </p:spTree>
    <p:extLst>
      <p:ext uri="{BB962C8B-B14F-4D97-AF65-F5344CB8AC3E}">
        <p14:creationId xmlns:p14="http://schemas.microsoft.com/office/powerpoint/2010/main" val="37590380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rallelogram 6">
            <a:extLst>
              <a:ext uri="{FF2B5EF4-FFF2-40B4-BE49-F238E27FC236}">
                <a16:creationId xmlns:a16="http://schemas.microsoft.com/office/drawing/2014/main" xmlns="" id="{8AF210FF-8C14-4C83-A795-36AD742C7B95}"/>
              </a:ext>
            </a:extLst>
          </p:cNvPr>
          <p:cNvSpPr/>
          <p:nvPr/>
        </p:nvSpPr>
        <p:spPr>
          <a:xfrm>
            <a:off x="195940" y="244927"/>
            <a:ext cx="6025247" cy="538843"/>
          </a:xfrm>
          <a:prstGeom prst="parallelogram">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t>PLACEMENT &amp; TRAINING ACTIVITIES</a:t>
            </a:r>
            <a:endParaRPr lang="en-IN" sz="2400" b="1" dirty="0"/>
          </a:p>
        </p:txBody>
      </p:sp>
      <p:sp>
        <p:nvSpPr>
          <p:cNvPr id="9" name="Right Triangle 8">
            <a:extLst>
              <a:ext uri="{FF2B5EF4-FFF2-40B4-BE49-F238E27FC236}">
                <a16:creationId xmlns:a16="http://schemas.microsoft.com/office/drawing/2014/main" xmlns="" id="{973AEE31-B1E0-4678-B99B-107DE3806894}"/>
              </a:ext>
            </a:extLst>
          </p:cNvPr>
          <p:cNvSpPr/>
          <p:nvPr/>
        </p:nvSpPr>
        <p:spPr>
          <a:xfrm rot="16200000">
            <a:off x="751114" y="3037112"/>
            <a:ext cx="9144002" cy="3069773"/>
          </a:xfrm>
          <a:prstGeom prst="rtTriangl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xmlns="" id="{9693F112-A510-430E-B16A-EE4AF4768EAC}"/>
              </a:ext>
            </a:extLst>
          </p:cNvPr>
          <p:cNvSpPr txBox="1"/>
          <p:nvPr/>
        </p:nvSpPr>
        <p:spPr>
          <a:xfrm>
            <a:off x="416375" y="2623540"/>
            <a:ext cx="4294415" cy="1323439"/>
          </a:xfrm>
          <a:prstGeom prst="rect">
            <a:avLst/>
          </a:prstGeom>
          <a:noFill/>
        </p:spPr>
        <p:txBody>
          <a:bodyPr wrap="square" rtlCol="0">
            <a:spAutoFit/>
          </a:bodyPr>
          <a:lstStyle/>
          <a:p>
            <a:r>
              <a:rPr lang="en-GB" sz="2000" b="1" dirty="0">
                <a:solidFill>
                  <a:schemeClr val="tx1">
                    <a:lumMod val="95000"/>
                    <a:lumOff val="5000"/>
                  </a:schemeClr>
                </a:solidFill>
                <a:latin typeface="Agency FB" pitchFamily="34" charset="0"/>
              </a:rPr>
              <a:t>Business Intelligence Project Management and Data Visualization</a:t>
            </a:r>
          </a:p>
          <a:p>
            <a:pPr algn="ctr"/>
            <a:r>
              <a:rPr lang="en-GB" sz="2000" b="1" dirty="0">
                <a:solidFill>
                  <a:schemeClr val="tx1">
                    <a:lumMod val="95000"/>
                    <a:lumOff val="5000"/>
                  </a:schemeClr>
                </a:solidFill>
                <a:latin typeface="Agency FB" pitchFamily="34" charset="0"/>
              </a:rPr>
              <a:t>(Ramanathan-Accenture)</a:t>
            </a:r>
          </a:p>
          <a:p>
            <a:pPr algn="ctr"/>
            <a:r>
              <a:rPr lang="en-GB" sz="2000" b="1" dirty="0">
                <a:solidFill>
                  <a:schemeClr val="tx1">
                    <a:lumMod val="95000"/>
                    <a:lumOff val="5000"/>
                  </a:schemeClr>
                </a:solidFill>
                <a:latin typeface="Agency FB" pitchFamily="34" charset="0"/>
              </a:rPr>
              <a:t>(online training</a:t>
            </a:r>
            <a:r>
              <a:rPr lang="en-GB" sz="2000" b="1" dirty="0">
                <a:solidFill>
                  <a:schemeClr val="tx2">
                    <a:lumMod val="75000"/>
                  </a:schemeClr>
                </a:solidFill>
              </a:rPr>
              <a:t>)</a:t>
            </a:r>
            <a:endParaRPr lang="en-IN" sz="2000" b="1" dirty="0">
              <a:solidFill>
                <a:schemeClr val="tx2">
                  <a:lumMod val="75000"/>
                </a:schemeClr>
              </a:solidFill>
            </a:endParaRPr>
          </a:p>
        </p:txBody>
      </p:sp>
      <p:sp>
        <p:nvSpPr>
          <p:cNvPr id="16" name="TextBox 15">
            <a:extLst>
              <a:ext uri="{FF2B5EF4-FFF2-40B4-BE49-F238E27FC236}">
                <a16:creationId xmlns:a16="http://schemas.microsoft.com/office/drawing/2014/main" xmlns="" id="{D1C4F61D-3B71-4F1F-8ED4-B6A5F305E4B2}"/>
              </a:ext>
            </a:extLst>
          </p:cNvPr>
          <p:cNvSpPr txBox="1"/>
          <p:nvPr/>
        </p:nvSpPr>
        <p:spPr>
          <a:xfrm>
            <a:off x="416375" y="1382370"/>
            <a:ext cx="4294415" cy="707886"/>
          </a:xfrm>
          <a:prstGeom prst="rect">
            <a:avLst/>
          </a:prstGeom>
          <a:noFill/>
        </p:spPr>
        <p:txBody>
          <a:bodyPr wrap="square" rtlCol="0">
            <a:spAutoFit/>
          </a:bodyPr>
          <a:lstStyle/>
          <a:p>
            <a:r>
              <a:rPr lang="en-GB" sz="2000" b="1" dirty="0">
                <a:latin typeface="Agency FB" pitchFamily="34" charset="0"/>
              </a:rPr>
              <a:t>Internship on Web development &amp; AI</a:t>
            </a:r>
          </a:p>
          <a:p>
            <a:pPr algn="ctr"/>
            <a:r>
              <a:rPr lang="en-GB" sz="2000" b="1" dirty="0">
                <a:solidFill>
                  <a:schemeClr val="tx2">
                    <a:lumMod val="75000"/>
                  </a:schemeClr>
                </a:solidFill>
                <a:latin typeface="Agency FB" pitchFamily="34" charset="0"/>
              </a:rPr>
              <a:t>(Tech Saksham</a:t>
            </a:r>
            <a:r>
              <a:rPr lang="en-GB" sz="2000" b="1" dirty="0">
                <a:solidFill>
                  <a:schemeClr val="tx2">
                    <a:lumMod val="75000"/>
                  </a:schemeClr>
                </a:solidFill>
              </a:rPr>
              <a:t>)</a:t>
            </a:r>
            <a:endParaRPr lang="en-IN" sz="2000" b="1" dirty="0">
              <a:solidFill>
                <a:schemeClr val="tx2">
                  <a:lumMod val="75000"/>
                </a:schemeClr>
              </a:solidFill>
            </a:endParaRPr>
          </a:p>
        </p:txBody>
      </p:sp>
      <p:sp>
        <p:nvSpPr>
          <p:cNvPr id="18" name="TextBox 17">
            <a:extLst>
              <a:ext uri="{FF2B5EF4-FFF2-40B4-BE49-F238E27FC236}">
                <a16:creationId xmlns:a16="http://schemas.microsoft.com/office/drawing/2014/main" xmlns="" id="{E1733926-5C84-4504-98C3-3D22FF097A71}"/>
              </a:ext>
            </a:extLst>
          </p:cNvPr>
          <p:cNvSpPr txBox="1"/>
          <p:nvPr/>
        </p:nvSpPr>
        <p:spPr>
          <a:xfrm>
            <a:off x="416375" y="4379170"/>
            <a:ext cx="4661810" cy="707886"/>
          </a:xfrm>
          <a:prstGeom prst="rect">
            <a:avLst/>
          </a:prstGeom>
          <a:noFill/>
        </p:spPr>
        <p:txBody>
          <a:bodyPr wrap="square" rtlCol="0">
            <a:spAutoFit/>
          </a:bodyPr>
          <a:lstStyle/>
          <a:p>
            <a:r>
              <a:rPr lang="en-GB" sz="2000" b="1" dirty="0">
                <a:latin typeface="Agency FB" pitchFamily="34" charset="0"/>
              </a:rPr>
              <a:t>Quantitative Aptitude &amp; Communication skills</a:t>
            </a:r>
          </a:p>
          <a:p>
            <a:pPr algn="ctr"/>
            <a:r>
              <a:rPr lang="en-GB" sz="2000" b="1" dirty="0">
                <a:solidFill>
                  <a:schemeClr val="tx2">
                    <a:lumMod val="75000"/>
                  </a:schemeClr>
                </a:solidFill>
                <a:latin typeface="Agency FB" pitchFamily="34" charset="0"/>
              </a:rPr>
              <a:t>(Venkatesan – Fifth wheel)</a:t>
            </a:r>
            <a:endParaRPr lang="en-IN" sz="2000" b="1" dirty="0">
              <a:solidFill>
                <a:schemeClr val="tx2">
                  <a:lumMod val="75000"/>
                </a:schemeClr>
              </a:solidFill>
              <a:latin typeface="Agency FB" pitchFamily="34" charset="0"/>
            </a:endParaRPr>
          </a:p>
        </p:txBody>
      </p:sp>
      <p:sp>
        <p:nvSpPr>
          <p:cNvPr id="19" name="TextBox 18">
            <a:extLst>
              <a:ext uri="{FF2B5EF4-FFF2-40B4-BE49-F238E27FC236}">
                <a16:creationId xmlns:a16="http://schemas.microsoft.com/office/drawing/2014/main" xmlns="" id="{2F304D51-9995-4CB8-92C8-0FDDE9EBE646}"/>
              </a:ext>
            </a:extLst>
          </p:cNvPr>
          <p:cNvSpPr txBox="1"/>
          <p:nvPr/>
        </p:nvSpPr>
        <p:spPr>
          <a:xfrm>
            <a:off x="306156" y="7253752"/>
            <a:ext cx="4661810" cy="707886"/>
          </a:xfrm>
          <a:prstGeom prst="rect">
            <a:avLst/>
          </a:prstGeom>
          <a:noFill/>
        </p:spPr>
        <p:txBody>
          <a:bodyPr wrap="square" rtlCol="0">
            <a:spAutoFit/>
          </a:bodyPr>
          <a:lstStyle/>
          <a:p>
            <a:r>
              <a:rPr lang="en-GB" sz="2000" b="1" dirty="0">
                <a:latin typeface="Agency FB" pitchFamily="34" charset="0"/>
              </a:rPr>
              <a:t>Computer Hardware Assembly</a:t>
            </a:r>
          </a:p>
          <a:p>
            <a:pPr algn="ctr"/>
            <a:r>
              <a:rPr lang="en-GB" sz="2000" b="1" dirty="0">
                <a:solidFill>
                  <a:schemeClr val="tx2">
                    <a:lumMod val="75000"/>
                  </a:schemeClr>
                </a:solidFill>
                <a:latin typeface="Agency FB" pitchFamily="34" charset="0"/>
              </a:rPr>
              <a:t>(By Industrial experts)</a:t>
            </a:r>
            <a:endParaRPr lang="en-IN" sz="2000" b="1" dirty="0">
              <a:solidFill>
                <a:schemeClr val="tx2">
                  <a:lumMod val="75000"/>
                </a:schemeClr>
              </a:solidFill>
              <a:latin typeface="Agency FB" pitchFamily="34" charset="0"/>
            </a:endParaRPr>
          </a:p>
        </p:txBody>
      </p:sp>
      <p:sp>
        <p:nvSpPr>
          <p:cNvPr id="20" name="TextBox 19">
            <a:extLst>
              <a:ext uri="{FF2B5EF4-FFF2-40B4-BE49-F238E27FC236}">
                <a16:creationId xmlns:a16="http://schemas.microsoft.com/office/drawing/2014/main" xmlns="" id="{9FCF01A1-F2DE-460B-BEE9-B75952E74720}"/>
              </a:ext>
            </a:extLst>
          </p:cNvPr>
          <p:cNvSpPr txBox="1"/>
          <p:nvPr/>
        </p:nvSpPr>
        <p:spPr>
          <a:xfrm>
            <a:off x="306156" y="5897739"/>
            <a:ext cx="4514851" cy="707886"/>
          </a:xfrm>
          <a:prstGeom prst="rect">
            <a:avLst/>
          </a:prstGeom>
          <a:noFill/>
        </p:spPr>
        <p:txBody>
          <a:bodyPr wrap="square" rtlCol="0">
            <a:spAutoFit/>
          </a:bodyPr>
          <a:lstStyle/>
          <a:p>
            <a:r>
              <a:rPr lang="en-GB" sz="2000" b="1" dirty="0">
                <a:latin typeface="Agency FB" pitchFamily="34" charset="0"/>
              </a:rPr>
              <a:t>CRO/Digital CRO/Advance communication</a:t>
            </a:r>
          </a:p>
          <a:p>
            <a:pPr algn="ctr"/>
            <a:r>
              <a:rPr lang="en-GB" sz="2000" b="1" dirty="0">
                <a:solidFill>
                  <a:schemeClr val="tx2">
                    <a:lumMod val="75000"/>
                  </a:schemeClr>
                </a:solidFill>
                <a:latin typeface="Agency FB" pitchFamily="34" charset="0"/>
              </a:rPr>
              <a:t>(By Tektronix</a:t>
            </a:r>
            <a:r>
              <a:rPr lang="en-GB" sz="2000" b="1" dirty="0">
                <a:solidFill>
                  <a:schemeClr val="tx2">
                    <a:lumMod val="75000"/>
                  </a:schemeClr>
                </a:solidFill>
              </a:rPr>
              <a:t>)</a:t>
            </a:r>
            <a:endParaRPr lang="en-IN" sz="2000" b="1" dirty="0">
              <a:solidFill>
                <a:schemeClr val="tx2">
                  <a:lumMod val="75000"/>
                </a:schemeClr>
              </a:solidFill>
            </a:endParaRPr>
          </a:p>
        </p:txBody>
      </p:sp>
    </p:spTree>
    <p:extLst>
      <p:ext uri="{BB962C8B-B14F-4D97-AF65-F5344CB8AC3E}">
        <p14:creationId xmlns:p14="http://schemas.microsoft.com/office/powerpoint/2010/main" val="10198609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xmlns="" id="{68E32469-1E5A-41A6-89BA-0667BF4160D8}"/>
              </a:ext>
            </a:extLst>
          </p:cNvPr>
          <p:cNvGrpSpPr/>
          <p:nvPr/>
        </p:nvGrpSpPr>
        <p:grpSpPr>
          <a:xfrm>
            <a:off x="0" y="0"/>
            <a:ext cx="6858000" cy="9144000"/>
            <a:chOff x="0" y="0"/>
            <a:chExt cx="6858000" cy="9144000"/>
          </a:xfrm>
        </p:grpSpPr>
        <p:grpSp>
          <p:nvGrpSpPr>
            <p:cNvPr id="6" name="Group 5">
              <a:extLst>
                <a:ext uri="{FF2B5EF4-FFF2-40B4-BE49-F238E27FC236}">
                  <a16:creationId xmlns:a16="http://schemas.microsoft.com/office/drawing/2014/main" xmlns="" id="{BF2E3D56-27EC-40FA-AF8B-2AC2572F3CF1}"/>
                </a:ext>
              </a:extLst>
            </p:cNvPr>
            <p:cNvGrpSpPr/>
            <p:nvPr/>
          </p:nvGrpSpPr>
          <p:grpSpPr>
            <a:xfrm>
              <a:off x="0" y="0"/>
              <a:ext cx="3430800" cy="9144000"/>
              <a:chOff x="0" y="0"/>
              <a:chExt cx="3430800" cy="9144000"/>
            </a:xfrm>
            <a:solidFill>
              <a:schemeClr val="tx2">
                <a:lumMod val="75000"/>
              </a:schemeClr>
            </a:solidFill>
          </p:grpSpPr>
          <p:sp>
            <p:nvSpPr>
              <p:cNvPr id="4" name="Right Triangle 3">
                <a:extLst>
                  <a:ext uri="{FF2B5EF4-FFF2-40B4-BE49-F238E27FC236}">
                    <a16:creationId xmlns:a16="http://schemas.microsoft.com/office/drawing/2014/main" xmlns="" id="{6FD45A44-FB81-461A-85D8-38DD84FE82AE}"/>
                  </a:ext>
                </a:extLst>
              </p:cNvPr>
              <p:cNvSpPr/>
              <p:nvPr/>
            </p:nvSpPr>
            <p:spPr>
              <a:xfrm>
                <a:off x="0" y="4662000"/>
                <a:ext cx="3430800" cy="448200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ight Triangle 4">
                <a:extLst>
                  <a:ext uri="{FF2B5EF4-FFF2-40B4-BE49-F238E27FC236}">
                    <a16:creationId xmlns:a16="http://schemas.microsoft.com/office/drawing/2014/main" xmlns="" id="{9F836225-1D5C-4262-94FB-0D07B6B16120}"/>
                  </a:ext>
                </a:extLst>
              </p:cNvPr>
              <p:cNvSpPr/>
              <p:nvPr/>
            </p:nvSpPr>
            <p:spPr>
              <a:xfrm flipV="1">
                <a:off x="0" y="0"/>
                <a:ext cx="3430800" cy="448200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 name="Group 6">
              <a:extLst>
                <a:ext uri="{FF2B5EF4-FFF2-40B4-BE49-F238E27FC236}">
                  <a16:creationId xmlns:a16="http://schemas.microsoft.com/office/drawing/2014/main" xmlns="" id="{75BA340D-0B65-45D2-B11F-D5D3ACFA00AA}"/>
                </a:ext>
              </a:extLst>
            </p:cNvPr>
            <p:cNvGrpSpPr/>
            <p:nvPr/>
          </p:nvGrpSpPr>
          <p:grpSpPr>
            <a:xfrm flipH="1">
              <a:off x="3427200" y="0"/>
              <a:ext cx="3430800" cy="9144000"/>
              <a:chOff x="0" y="0"/>
              <a:chExt cx="3430800" cy="9144000"/>
            </a:xfrm>
            <a:solidFill>
              <a:schemeClr val="tx2">
                <a:lumMod val="75000"/>
              </a:schemeClr>
            </a:solidFill>
          </p:grpSpPr>
          <p:sp>
            <p:nvSpPr>
              <p:cNvPr id="8" name="Right Triangle 7">
                <a:extLst>
                  <a:ext uri="{FF2B5EF4-FFF2-40B4-BE49-F238E27FC236}">
                    <a16:creationId xmlns:a16="http://schemas.microsoft.com/office/drawing/2014/main" xmlns="" id="{938D8DE4-A1FF-4A7E-A3A5-720E852F59FC}"/>
                  </a:ext>
                </a:extLst>
              </p:cNvPr>
              <p:cNvSpPr/>
              <p:nvPr/>
            </p:nvSpPr>
            <p:spPr>
              <a:xfrm>
                <a:off x="0" y="4662000"/>
                <a:ext cx="3430800" cy="448200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ight Triangle 8">
                <a:extLst>
                  <a:ext uri="{FF2B5EF4-FFF2-40B4-BE49-F238E27FC236}">
                    <a16:creationId xmlns:a16="http://schemas.microsoft.com/office/drawing/2014/main" xmlns="" id="{35D73FEF-C114-44B2-AEB8-4A73416696D8}"/>
                  </a:ext>
                </a:extLst>
              </p:cNvPr>
              <p:cNvSpPr/>
              <p:nvPr/>
            </p:nvSpPr>
            <p:spPr>
              <a:xfrm flipV="1">
                <a:off x="0" y="0"/>
                <a:ext cx="3430800" cy="4482000"/>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mc:AlternateContent xmlns:mc="http://schemas.openxmlformats.org/markup-compatibility/2006">
        <mc:Choice xmlns:we="http://schemas.microsoft.com/office/webextensions/webextension/2010/11" xmlns:pca="http://schemas.microsoft.com/office/powerpoint/2013/contentapp" xmlns="" Requires="we pca">
          <p:graphicFrame>
            <p:nvGraphicFramePr>
              <p:cNvPr id="10" name="Add-in 9" title="Web Viewer">
                <a:extLst>
                  <a:ext uri="{FF2B5EF4-FFF2-40B4-BE49-F238E27FC236}">
                    <a16:creationId xmlns:a16="http://schemas.microsoft.com/office/drawing/2014/main" id="{F208D157-89D2-4D18-88FF-6B6C94A4F7EC}"/>
                  </a:ext>
                </a:extLst>
              </p:cNvPr>
              <p:cNvGraphicFramePr>
                <a:graphicFrameLocks noGrp="1"/>
              </p:cNvGraphicFramePr>
              <p:nvPr>
                <p:extLst>
                  <p:ext uri="{D42A27DB-BD31-4B8C-83A1-F6EECF244321}">
                    <p14:modId xmlns:p14="http://schemas.microsoft.com/office/powerpoint/2010/main" val="4031478653"/>
                  </p:ext>
                </p:extLst>
              </p:nvPr>
            </p:nvGraphicFramePr>
            <p:xfrm>
              <a:off x="643178" y="2000250"/>
              <a:ext cx="5568044" cy="5461907"/>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10" name="Add-in 9" title="Web Viewer">
                <a:extLst>
                  <a:ext uri="{FF2B5EF4-FFF2-40B4-BE49-F238E27FC236}">
                    <a16:creationId xmlns:a16="http://schemas.microsoft.com/office/drawing/2014/main" xmlns="" xmlns:pca="http://schemas.microsoft.com/office/powerpoint/2013/contentapp" xmlns:we="http://schemas.microsoft.com/office/webextensions/webextension/2010/11" id="{F208D157-89D2-4D18-88FF-6B6C94A4F7EC}"/>
                  </a:ext>
                </a:extLst>
              </p:cNvPr>
              <p:cNvPicPr>
                <a:picLocks noGrp="1" noRot="1" noChangeAspect="1" noMove="1" noResize="1" noEditPoints="1" noAdjustHandles="1" noChangeArrowheads="1" noChangeShapeType="1"/>
              </p:cNvPicPr>
              <p:nvPr/>
            </p:nvPicPr>
            <p:blipFill>
              <a:blip r:embed="rId3"/>
              <a:stretch>
                <a:fillRect/>
              </a:stretch>
            </p:blipFill>
            <p:spPr>
              <a:xfrm>
                <a:off x="643178" y="2000250"/>
                <a:ext cx="5568044" cy="5461907"/>
              </a:xfrm>
              <a:prstGeom prst="rect">
                <a:avLst/>
              </a:prstGeom>
            </p:spPr>
          </p:pic>
        </mc:Fallback>
      </mc:AlternateContent>
      <p:sp>
        <p:nvSpPr>
          <p:cNvPr id="11" name="Flowchart: Decision 10">
            <a:extLst>
              <a:ext uri="{FF2B5EF4-FFF2-40B4-BE49-F238E27FC236}">
                <a16:creationId xmlns:a16="http://schemas.microsoft.com/office/drawing/2014/main" xmlns="" id="{82F9F010-0CC1-45A5-AB43-7B06D40F1664}"/>
              </a:ext>
            </a:extLst>
          </p:cNvPr>
          <p:cNvSpPr/>
          <p:nvPr/>
        </p:nvSpPr>
        <p:spPr>
          <a:xfrm>
            <a:off x="1715400" y="522514"/>
            <a:ext cx="3430800" cy="1159329"/>
          </a:xfrm>
          <a:prstGeom prst="flowChartDecision">
            <a:avLst/>
          </a:prstGeom>
          <a:solidFill>
            <a:schemeClr val="tx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LOCATION</a:t>
            </a:r>
            <a:endParaRPr lang="en-IN" dirty="0">
              <a:solidFill>
                <a:schemeClr val="bg1"/>
              </a:solidFill>
            </a:endParaRPr>
          </a:p>
        </p:txBody>
      </p:sp>
    </p:spTree>
    <p:extLst>
      <p:ext uri="{BB962C8B-B14F-4D97-AF65-F5344CB8AC3E}">
        <p14:creationId xmlns:p14="http://schemas.microsoft.com/office/powerpoint/2010/main" val="27177699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pic>
        <p:nvPicPr>
          <p:cNvPr id="5" name="Graphic 4" descr="Ribbon">
            <a:extLst>
              <a:ext uri="{FF2B5EF4-FFF2-40B4-BE49-F238E27FC236}">
                <a16:creationId xmlns:a16="http://schemas.microsoft.com/office/drawing/2014/main" xmlns="" id="{4CD202D9-23A1-49E8-A559-09C5ACF4393E}"/>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0" y="150000"/>
            <a:ext cx="647700" cy="647700"/>
          </a:xfrm>
          <a:prstGeom prst="rect">
            <a:avLst/>
          </a:prstGeom>
        </p:spPr>
      </p:pic>
      <p:grpSp>
        <p:nvGrpSpPr>
          <p:cNvPr id="9" name="Group 8">
            <a:extLst>
              <a:ext uri="{FF2B5EF4-FFF2-40B4-BE49-F238E27FC236}">
                <a16:creationId xmlns:a16="http://schemas.microsoft.com/office/drawing/2014/main" xmlns="" id="{17B92644-D46C-43C6-8323-DA134CE4E7CE}"/>
              </a:ext>
            </a:extLst>
          </p:cNvPr>
          <p:cNvGrpSpPr/>
          <p:nvPr/>
        </p:nvGrpSpPr>
        <p:grpSpPr>
          <a:xfrm>
            <a:off x="818882" y="1961882"/>
            <a:ext cx="5220235" cy="5220235"/>
            <a:chOff x="835697" y="1805725"/>
            <a:chExt cx="5220235" cy="5220235"/>
          </a:xfrm>
        </p:grpSpPr>
        <p:pic>
          <p:nvPicPr>
            <p:cNvPr id="7" name="Graphic 6" descr="Processor">
              <a:extLst>
                <a:ext uri="{FF2B5EF4-FFF2-40B4-BE49-F238E27FC236}">
                  <a16:creationId xmlns:a16="http://schemas.microsoft.com/office/drawing/2014/main" xmlns="" id="{F09D86C5-E01A-4052-B99A-1522D04A099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835697" y="1805725"/>
              <a:ext cx="5220235" cy="5220235"/>
            </a:xfrm>
            <a:prstGeom prst="rect">
              <a:avLst/>
            </a:prstGeom>
          </p:spPr>
        </p:pic>
        <p:pic>
          <p:nvPicPr>
            <p:cNvPr id="3" name="Graphic 2" descr="Handshake">
              <a:extLst>
                <a:ext uri="{FF2B5EF4-FFF2-40B4-BE49-F238E27FC236}">
                  <a16:creationId xmlns:a16="http://schemas.microsoft.com/office/drawing/2014/main" xmlns="" id="{12E05703-9C1A-4BFA-BF88-7AC602645BB9}"/>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2731783" y="3874783"/>
              <a:ext cx="1394433" cy="1394433"/>
            </a:xfrm>
            <a:prstGeom prst="rect">
              <a:avLst/>
            </a:prstGeom>
          </p:spPr>
        </p:pic>
      </p:grpSp>
      <p:pic>
        <p:nvPicPr>
          <p:cNvPr id="8" name="Graphic 7" descr="Ribbon">
            <a:extLst>
              <a:ext uri="{FF2B5EF4-FFF2-40B4-BE49-F238E27FC236}">
                <a16:creationId xmlns:a16="http://schemas.microsoft.com/office/drawing/2014/main" xmlns="" id="{C19035AA-A342-4DBB-B3DF-DF3AD439BAB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210300" y="150000"/>
            <a:ext cx="647700" cy="647700"/>
          </a:xfrm>
          <a:prstGeom prst="rect">
            <a:avLst/>
          </a:prstGeom>
        </p:spPr>
      </p:pic>
      <p:sp>
        <p:nvSpPr>
          <p:cNvPr id="10" name="Flowchart: Off-page Connector 9">
            <a:extLst>
              <a:ext uri="{FF2B5EF4-FFF2-40B4-BE49-F238E27FC236}">
                <a16:creationId xmlns:a16="http://schemas.microsoft.com/office/drawing/2014/main" xmlns="" id="{B5CB92A4-7F5E-4BFB-8C52-5645E631AD05}"/>
              </a:ext>
            </a:extLst>
          </p:cNvPr>
          <p:cNvSpPr/>
          <p:nvPr/>
        </p:nvSpPr>
        <p:spPr>
          <a:xfrm>
            <a:off x="1456007" y="7494431"/>
            <a:ext cx="3945984" cy="998497"/>
          </a:xfrm>
          <a:prstGeom prst="flowChartOffpageConnector">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b="1" dirty="0">
                <a:solidFill>
                  <a:schemeClr val="tx1">
                    <a:lumMod val="95000"/>
                    <a:lumOff val="5000"/>
                  </a:schemeClr>
                </a:solidFill>
                <a:latin typeface="Agency FB" pitchFamily="34" charset="0"/>
              </a:rPr>
              <a:t>THANK YOU</a:t>
            </a:r>
            <a:endParaRPr lang="en-IN" sz="2800" b="1" dirty="0">
              <a:solidFill>
                <a:schemeClr val="tx1">
                  <a:lumMod val="95000"/>
                  <a:lumOff val="5000"/>
                </a:schemeClr>
              </a:solidFill>
              <a:latin typeface="Agency FB" pitchFamily="34" charset="0"/>
            </a:endParaRPr>
          </a:p>
        </p:txBody>
      </p:sp>
    </p:spTree>
    <p:extLst>
      <p:ext uri="{BB962C8B-B14F-4D97-AF65-F5344CB8AC3E}">
        <p14:creationId xmlns:p14="http://schemas.microsoft.com/office/powerpoint/2010/main" val="8909322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44.png"/></Relationships>
</file>

<file path=ppt/webextensions/webextension1.xml><?xml version="1.0" encoding="utf-8"?>
<we:webextension xmlns:we="http://schemas.microsoft.com/office/webextensions/webextension/2010/11" id="{F7F361EB-4409-4B52-B25A-3DBA32D951BE}">
  <we:reference id="wa104295828" version="1.9.0.0" store="en-US" storeType="OMEX"/>
  <we:alternateReferences>
    <we:reference id="wa104295828" version="1.9.0.0" store="wa104295828" storeType="OMEX"/>
  </we:alternateReferences>
  <we:properties>
    <we:property name="__labs__" value="{&quot;configuration&quot;:{&quot;appVersion&quot;:{&quot;major&quot;:1,&quot;minor&quot;:0},&quot;components&quot;:[{&quot;type&quot;:&quot;Labs.Components.ActivityComponent&quot;,&quot;name&quot;:&quot;www.google.com/maps/embed?pb=!1m18!1m12!1m3!1d3384.509851596997!2d78.9747808143165!3d10.694455863626873!2m3!1f0!2f0!3f0!3m2!1i1024!2i768!4f13.1!3m3!1m2!1s0x3baa95d58219ee59%3A0xd9db9258a78f83d4!2sGovernment%20College%20Of%20Engineering%2CSengipatti%2CThanjavur!5e1!3m2!1sen!2sin!4v1635325624251!5m2!1sen!2sin\&quot; width=\&quot;600\&quot; height=\&quot;450\&quot; style=\&quot;border:0;\&quot; allowfullscreen=\&quot;\&quot; loading=\&quot;lazy\&quot;&gt;&lt;/iframe&gt;&quot;,&quot;values&quot;:{},&quot;data&quot;:{&quot;uri&quot;:&quot;www.google.com/maps/embed?pb=!1m18!1m12!1m3!1d3384.509851596997!2d78.9747808143165!3d10.694455863626873!2m3!1f0!2f0!3f0!3m2!1i1024!2i768!4f13.1!3m3!1m2!1s0x3baa95d58219ee59%3A0xd9db9258a78f83d4!2sGovernment%20College%20Of%20Engineering%2CSengipatti%2CThanjavur!5e1!3m2!1sen!2sin!4v1635325624251!5m2!1sen!2sin\&quot; width=\&quot;600\&quot; height=\&quot;450\&quot; style=\&quot;border:0;\&quot; allowfullscreen=\&quot;\&quot; loading=\&quot;lazy\&quot;&gt;&lt;/iframe&gt;&quot;},&quot;secure&quot;:false}],&quot;name&quot;:&quot;www.google.com/maps/embed?pb=!1m18!1m12!1m3!1d3384.509851596997!2d78.9747808143165!3d10.694455863626873!2m3!1f0!2f0!3f0!3m2!1i1024!2i768!4f13.1!3m3!1m2!1s0x3baa95d58219ee59%3A0xd9db9258a78f83d4!2sGovernment%20College%20Of%20Engineering%2CSengipatti%2CThanjavur!5e1!3m2!1sen!2sin!4v1635325624251!5m2!1sen!2sin\&quot; width=\&quot;600\&quot; height=\&quot;450\&quot; style=\&quot;border:0;\&quot; allowfullscreen=\&quot;\&quot; loading=\&quot;lazy\&quot;&gt;&lt;/iframe&gt;&quot;,&quot;timeline&quot;:null,&quot;analytics&quot;:null},&quot;hostVersion&quot;:{&quot;major&quot;:0,&quot;minor&quot;:1}}"/>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Office Theme</Template>
  <TotalTime>662</TotalTime>
  <Words>634</Words>
  <Application>Microsoft Office PowerPoint</Application>
  <PresentationFormat>On-screen Show (4:3)</PresentationFormat>
  <Paragraphs>116</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MULLAI ARUN</dc:creator>
  <cp:lastModifiedBy>dinesh arumugam</cp:lastModifiedBy>
  <cp:revision>17</cp:revision>
  <dcterms:created xsi:type="dcterms:W3CDTF">2021-10-26T19:55:52Z</dcterms:created>
  <dcterms:modified xsi:type="dcterms:W3CDTF">2021-11-12T09:09:27Z</dcterms:modified>
</cp:coreProperties>
</file>